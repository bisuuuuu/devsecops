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Lst>
  <p:sldSz cy="6858000" cx="9144000"/>
  <p:notesSz cx="7772400" cy="10058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84" roundtripDataSignature="AMtx7mhmLXWfEQpdt4Br/NfIt+TM50kU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6ECD38-CB83-4CD3-91DD-66FDA00D7CF6}">
  <a:tblStyle styleId="{466ECD38-CB83-4CD3-91DD-66FDA00D7CF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FA417998-51A4-4FD3-8344-115FCE8B26E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customschemas.google.com/relationships/presentationmetadata" Target="metadata"/><Relationship Id="rId83" Type="http://schemas.openxmlformats.org/officeDocument/2006/relationships/slide" Target="slides/slide77.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368675" cy="50323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402138" y="0"/>
            <a:ext cx="3368675" cy="50323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77875" y="4778375"/>
            <a:ext cx="6216650" cy="4525963"/>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553575"/>
            <a:ext cx="3368675" cy="5032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402138" y="9553575"/>
            <a:ext cx="3368675" cy="5032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7: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8: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9: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0: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1: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2: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4: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4: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5: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5: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6: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6: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7: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8: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8: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9: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9: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0: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20: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1: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1: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2: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2: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3: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23: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4: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5: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5: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6: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6: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7: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7: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8: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8: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9: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9: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0: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30: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1: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31: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2: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32: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3: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33: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4: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34: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5: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35: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6: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6: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7: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7: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8: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38: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9: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39: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0: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40: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1: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41: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2: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42: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3: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43: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4: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44: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5: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45: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6: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46: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7: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47: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8: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48: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9: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49: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0: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50: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51: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51: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52: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52: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3: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53: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54: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54: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55: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55: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56: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56: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57: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57: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58: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58: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59: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59: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60: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60: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61: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61: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62: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62: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63: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63: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64: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64: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65: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65: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66: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66: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67: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67: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68: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68: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69: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69: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70: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70: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71: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p71: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72: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72: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73: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p73: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74: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p74: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75: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p75: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76: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76: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77:notes"/>
          <p:cNvSpPr txBox="1"/>
          <p:nvPr>
            <p:ph idx="1" type="body"/>
          </p:nvPr>
        </p:nvSpPr>
        <p:spPr>
          <a:xfrm>
            <a:off x="777875" y="4778375"/>
            <a:ext cx="6216650" cy="452596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p77: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8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8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8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8" name="Google Shape;28;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8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8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8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8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8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8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8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8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8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8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8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7"/>
          <p:cNvSpPr/>
          <p:nvPr>
            <p:ph idx="2" type="pic"/>
          </p:nvPr>
        </p:nvSpPr>
        <p:spPr>
          <a:xfrm>
            <a:off x="1792288" y="612775"/>
            <a:ext cx="5486400" cy="4114800"/>
          </a:xfrm>
          <a:prstGeom prst="rect">
            <a:avLst/>
          </a:prstGeom>
          <a:noFill/>
          <a:ln>
            <a:noFill/>
          </a:ln>
        </p:spPr>
      </p:sp>
      <p:sp>
        <p:nvSpPr>
          <p:cNvPr id="68" name="Google Shape;68;p8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8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8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8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8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8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8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685800" y="2130480"/>
            <a:ext cx="7770600" cy="146808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 name="Google Shape;89;p1"/>
          <p:cNvSpPr/>
          <p:nvPr/>
        </p:nvSpPr>
        <p:spPr>
          <a:xfrm>
            <a:off x="1371600" y="3964320"/>
            <a:ext cx="6399000" cy="17506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200" u="none" cap="none" strike="noStrike">
                <a:solidFill>
                  <a:srgbClr val="8B8B8B"/>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
        <p:nvSpPr>
          <p:cNvPr id="91" name="Google Shape;91;p1"/>
          <p:cNvSpPr/>
          <p:nvPr/>
        </p:nvSpPr>
        <p:spPr>
          <a:xfrm>
            <a:off x="3124080" y="6356520"/>
            <a:ext cx="289368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 name="Google Shape;92;p1"/>
          <p:cNvSpPr/>
          <p:nvPr/>
        </p:nvSpPr>
        <p:spPr>
          <a:xfrm>
            <a:off x="457200" y="273600"/>
            <a:ext cx="8228160" cy="11440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p:nvPr/>
        </p:nvSpPr>
        <p:spPr>
          <a:xfrm>
            <a:off x="457200" y="1604520"/>
            <a:ext cx="8228160" cy="397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p:nvPr/>
        </p:nvSpPr>
        <p:spPr>
          <a:xfrm>
            <a:off x="617300" y="2443275"/>
            <a:ext cx="7696200" cy="2149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6000" u="none" cap="none" strike="noStrike">
                <a:solidFill>
                  <a:schemeClr val="dk1"/>
                </a:solidFill>
                <a:latin typeface="Calibri"/>
                <a:ea typeface="Calibri"/>
                <a:cs typeface="Calibri"/>
                <a:sym typeface="Calibri"/>
              </a:rPr>
              <a:t>Software Requirements</a:t>
            </a:r>
            <a:endParaRPr b="1" i="0" sz="6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What is a requirement?</a:t>
            </a:r>
            <a:endParaRPr/>
          </a:p>
        </p:txBody>
      </p:sp>
      <p:sp>
        <p:nvSpPr>
          <p:cNvPr id="100" name="Google Shape;100;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A software requirement is a condition or capability needed by a user to solve a problem or achieve an objective and that must be met or possessed by a system or system component to satisfy a contract, standard, specification, or other formally imposed document.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p:nvPr/>
        </p:nvSpPr>
        <p:spPr>
          <a:xfrm>
            <a:off x="457200" y="274680"/>
            <a:ext cx="7291440" cy="1141200"/>
          </a:xfrm>
          <a:prstGeom prst="rect">
            <a:avLst/>
          </a:prstGeom>
          <a:noFill/>
          <a:ln>
            <a:noFill/>
          </a:ln>
        </p:spPr>
        <p:txBody>
          <a:bodyPr anchorCtr="1" anchor="ctr" bIns="44275" lIns="90350" spcFirstLastPara="1" rIns="90350" wrap="square" tIns="44275">
            <a:noAutofit/>
          </a:bodyPr>
          <a:lstStyle/>
          <a:p>
            <a:pPr indent="0" lvl="0" marL="0" marR="0" rtl="0" algn="l">
              <a:lnSpc>
                <a:spcPct val="100000"/>
              </a:lnSpc>
              <a:spcBef>
                <a:spcPts val="0"/>
              </a:spcBef>
              <a:spcAft>
                <a:spcPts val="0"/>
              </a:spcAft>
              <a:buNone/>
            </a:pPr>
            <a:r>
              <a:rPr b="1" i="0" lang="en-US" sz="2400" u="none" cap="none" strike="noStrike">
                <a:solidFill>
                  <a:srgbClr val="46424D"/>
                </a:solidFill>
                <a:latin typeface="Arial"/>
                <a:ea typeface="Arial"/>
                <a:cs typeface="Arial"/>
                <a:sym typeface="Arial"/>
              </a:rPr>
              <a:t>What is a requirement?</a:t>
            </a:r>
            <a:endParaRPr b="0" i="0" sz="1800" u="none" cap="none" strike="noStrike">
              <a:solidFill>
                <a:schemeClr val="dk1"/>
              </a:solidFill>
              <a:latin typeface="Calibri"/>
              <a:ea typeface="Calibri"/>
              <a:cs typeface="Calibri"/>
              <a:sym typeface="Calibri"/>
            </a:endParaRPr>
          </a:p>
        </p:txBody>
      </p:sp>
      <p:sp>
        <p:nvSpPr>
          <p:cNvPr id="106" name="Google Shape;106;p3"/>
          <p:cNvSpPr/>
          <p:nvPr/>
        </p:nvSpPr>
        <p:spPr>
          <a:xfrm>
            <a:off x="457200" y="1600200"/>
            <a:ext cx="8227800" cy="4524120"/>
          </a:xfrm>
          <a:prstGeom prst="rect">
            <a:avLst/>
          </a:prstGeom>
          <a:noFill/>
          <a:ln>
            <a:noFill/>
          </a:ln>
        </p:spPr>
        <p:txBody>
          <a:bodyPr anchorCtr="1" anchor="t" bIns="44275" lIns="90350" spcFirstLastPara="1" rIns="90350" wrap="square" tIns="44275">
            <a:noAutofit/>
          </a:bodyPr>
          <a:lstStyle/>
          <a:p>
            <a:pPr indent="-165100" lvl="0" marL="0" marR="0" rtl="0" algn="l">
              <a:lnSpc>
                <a:spcPct val="90000"/>
              </a:lnSpc>
              <a:spcBef>
                <a:spcPts val="0"/>
              </a:spcBef>
              <a:spcAft>
                <a:spcPts val="0"/>
              </a:spcAft>
              <a:buClr>
                <a:schemeClr val="dk1"/>
              </a:buClr>
              <a:buSzPts val="2600"/>
              <a:buFont typeface="Noto Sans Symbols"/>
              <a:buChar char="✧"/>
            </a:pPr>
            <a:r>
              <a:rPr b="0" i="0" lang="en-US" sz="2600" u="none" cap="none" strike="noStrike">
                <a:solidFill>
                  <a:schemeClr val="dk1"/>
                </a:solidFill>
                <a:latin typeface="Arial"/>
                <a:ea typeface="Arial"/>
                <a:cs typeface="Arial"/>
                <a:sym typeface="Arial"/>
              </a:rPr>
              <a:t>It may range from a high-level abstract statement of a service or of a system constraint to a detailed mathematical functional specification.</a:t>
            </a:r>
            <a:endParaRPr b="0" i="0" sz="2000" u="none" cap="none" strike="noStrike">
              <a:solidFill>
                <a:schemeClr val="dk1"/>
              </a:solidFill>
              <a:latin typeface="Calibri"/>
              <a:ea typeface="Calibri"/>
              <a:cs typeface="Calibri"/>
              <a:sym typeface="Calibri"/>
            </a:endParaRPr>
          </a:p>
          <a:p>
            <a:pPr indent="-165100" lvl="0" marL="0" marR="0" rtl="0" algn="l">
              <a:lnSpc>
                <a:spcPct val="90000"/>
              </a:lnSpc>
              <a:spcBef>
                <a:spcPts val="0"/>
              </a:spcBef>
              <a:spcAft>
                <a:spcPts val="0"/>
              </a:spcAft>
              <a:buClr>
                <a:schemeClr val="dk1"/>
              </a:buClr>
              <a:buSzPts val="2600"/>
              <a:buFont typeface="Noto Sans Symbols"/>
              <a:buChar char="✧"/>
            </a:pPr>
            <a:r>
              <a:rPr b="0" i="0" lang="en-US" sz="2600" u="none" cap="none" strike="noStrike">
                <a:solidFill>
                  <a:schemeClr val="dk1"/>
                </a:solidFill>
                <a:latin typeface="Arial"/>
                <a:ea typeface="Arial"/>
                <a:cs typeface="Arial"/>
                <a:sym typeface="Arial"/>
              </a:rPr>
              <a:t>This is inevitable as requirements may serve a dual function</a:t>
            </a:r>
            <a:endParaRPr b="0" i="0" sz="2000" u="none" cap="none" strike="noStrike">
              <a:solidFill>
                <a:schemeClr val="dk1"/>
              </a:solidFill>
              <a:latin typeface="Calibri"/>
              <a:ea typeface="Calibri"/>
              <a:cs typeface="Calibri"/>
              <a:sym typeface="Calibri"/>
            </a:endParaRPr>
          </a:p>
          <a:p>
            <a:pPr indent="-139700" lvl="1" marL="457200" marR="0" rtl="0" algn="l">
              <a:lnSpc>
                <a:spcPct val="9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Arial"/>
                <a:ea typeface="Arial"/>
                <a:cs typeface="Arial"/>
                <a:sym typeface="Arial"/>
              </a:rPr>
              <a:t>May be the basis for a bid for a contract - therefore must be open to interpretation;</a:t>
            </a:r>
            <a:endParaRPr b="0" i="0" sz="2000" u="none" cap="none" strike="noStrike">
              <a:solidFill>
                <a:schemeClr val="dk1"/>
              </a:solidFill>
              <a:latin typeface="Calibri"/>
              <a:ea typeface="Calibri"/>
              <a:cs typeface="Calibri"/>
              <a:sym typeface="Calibri"/>
            </a:endParaRPr>
          </a:p>
          <a:p>
            <a:pPr indent="-139700" lvl="1" marL="457200" marR="0" rtl="0" algn="l">
              <a:lnSpc>
                <a:spcPct val="9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Arial"/>
                <a:ea typeface="Arial"/>
                <a:cs typeface="Arial"/>
                <a:sym typeface="Arial"/>
              </a:rPr>
              <a:t>May be the basis for the contract itself - therefore must be defined in detail;</a:t>
            </a:r>
            <a:endParaRPr b="0" i="0" sz="2000" u="none" cap="none" strike="noStrike">
              <a:solidFill>
                <a:schemeClr val="dk1"/>
              </a:solidFill>
              <a:latin typeface="Calibri"/>
              <a:ea typeface="Calibri"/>
              <a:cs typeface="Calibri"/>
              <a:sym typeface="Calibri"/>
            </a:endParaRPr>
          </a:p>
          <a:p>
            <a:pPr indent="0" lvl="1" marL="4572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p:txBody>
      </p:sp>
      <p:sp>
        <p:nvSpPr>
          <p:cNvPr id="107" name="Google Shape;107;p3"/>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200" u="none" cap="none" strike="noStrike">
                <a:solidFill>
                  <a:srgbClr val="8B8B8B"/>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txBox="1"/>
          <p:nvPr>
            <p:ph type="ctrTitle"/>
          </p:nvPr>
        </p:nvSpPr>
        <p:spPr>
          <a:xfrm>
            <a:off x="609600" y="533400"/>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Objectives</a:t>
            </a:r>
            <a:endParaRPr/>
          </a:p>
        </p:txBody>
      </p:sp>
      <p:sp>
        <p:nvSpPr>
          <p:cNvPr id="113" name="Google Shape;113;p4"/>
          <p:cNvSpPr txBox="1"/>
          <p:nvPr>
            <p:ph idx="1" type="subTitle"/>
          </p:nvPr>
        </p:nvSpPr>
        <p:spPr>
          <a:xfrm>
            <a:off x="1371600" y="1828800"/>
            <a:ext cx="7086600" cy="4495800"/>
          </a:xfrm>
          <a:prstGeom prst="rect">
            <a:avLst/>
          </a:prstGeom>
          <a:noFill/>
          <a:ln>
            <a:noFill/>
          </a:ln>
        </p:spPr>
        <p:txBody>
          <a:bodyPr anchorCtr="0" anchor="t" bIns="45700" lIns="91425" spcFirstLastPara="1" rIns="91425" wrap="square" tIns="45700">
            <a:normAutofit/>
          </a:bodyPr>
          <a:lstStyle/>
          <a:p>
            <a:pPr indent="-203200" lvl="0" marL="0" rtl="0" algn="l">
              <a:spcBef>
                <a:spcPts val="0"/>
              </a:spcBef>
              <a:spcAft>
                <a:spcPts val="0"/>
              </a:spcAft>
              <a:buClr>
                <a:schemeClr val="dk1"/>
              </a:buClr>
              <a:buSzPts val="3200"/>
              <a:buFont typeface="Arial"/>
              <a:buChar char="•"/>
            </a:pPr>
            <a:r>
              <a:rPr lang="en-US">
                <a:solidFill>
                  <a:schemeClr val="dk1"/>
                </a:solidFill>
              </a:rPr>
              <a:t> To introduce the concepts of user and system requirements.</a:t>
            </a:r>
            <a:endParaRPr/>
          </a:p>
          <a:p>
            <a:pPr indent="-203200" lvl="0" marL="0" rtl="0" algn="l">
              <a:spcBef>
                <a:spcPts val="640"/>
              </a:spcBef>
              <a:spcAft>
                <a:spcPts val="0"/>
              </a:spcAft>
              <a:buClr>
                <a:schemeClr val="dk1"/>
              </a:buClr>
              <a:buSzPts val="3200"/>
              <a:buFont typeface="Arial"/>
              <a:buChar char="•"/>
            </a:pPr>
            <a:r>
              <a:rPr lang="en-US">
                <a:solidFill>
                  <a:schemeClr val="dk1"/>
                </a:solidFill>
              </a:rPr>
              <a:t> To describe functional and </a:t>
            </a:r>
            <a:r>
              <a:rPr lang="en-US">
                <a:solidFill>
                  <a:schemeClr val="dk1"/>
                </a:solidFill>
              </a:rPr>
              <a:t>nonfunctional</a:t>
            </a:r>
            <a:r>
              <a:rPr lang="en-US">
                <a:solidFill>
                  <a:schemeClr val="dk1"/>
                </a:solidFill>
              </a:rPr>
              <a:t> requirements. </a:t>
            </a:r>
            <a:endParaRPr/>
          </a:p>
          <a:p>
            <a:pPr indent="-203200" lvl="0" marL="0" rtl="0" algn="l">
              <a:spcBef>
                <a:spcPts val="640"/>
              </a:spcBef>
              <a:spcAft>
                <a:spcPts val="0"/>
              </a:spcAft>
              <a:buClr>
                <a:schemeClr val="dk1"/>
              </a:buClr>
              <a:buSzPts val="3200"/>
              <a:buFont typeface="Arial"/>
              <a:buChar char="•"/>
            </a:pPr>
            <a:r>
              <a:rPr lang="en-US">
                <a:solidFill>
                  <a:schemeClr val="dk1"/>
                </a:solidFill>
              </a:rPr>
              <a:t> To explain how software requirements may be organized in a requirements document.</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Requirements engineering</a:t>
            </a:r>
            <a:endParaRPr/>
          </a:p>
        </p:txBody>
      </p:sp>
      <p:sp>
        <p:nvSpPr>
          <p:cNvPr id="119" name="Google Shape;119;p5"/>
          <p:cNvSpPr txBox="1"/>
          <p:nvPr>
            <p:ph idx="1" type="body"/>
          </p:nvPr>
        </p:nvSpPr>
        <p:spPr>
          <a:xfrm>
            <a:off x="457200" y="1600200"/>
            <a:ext cx="84582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chemeClr val="dk1"/>
              </a:buClr>
              <a:buSzPct val="100000"/>
              <a:buChar char="•"/>
            </a:pPr>
            <a:r>
              <a:rPr lang="en-US"/>
              <a:t>Requirements engineering is a systematic way of  developing requirements through an iterative process of analyzing a problem, documenting the resulting observations, and checking the accuracy of the understanding  gained.</a:t>
            </a:r>
            <a:endParaRPr/>
          </a:p>
          <a:p>
            <a:pPr indent="-342900" lvl="0" marL="342900" rtl="0" algn="just">
              <a:spcBef>
                <a:spcPts val="592"/>
              </a:spcBef>
              <a:spcAft>
                <a:spcPts val="0"/>
              </a:spcAft>
              <a:buClr>
                <a:schemeClr val="dk1"/>
              </a:buClr>
              <a:buSzPct val="100000"/>
              <a:buChar char="•"/>
            </a:pPr>
            <a:r>
              <a:rPr lang="en-US"/>
              <a:t>Requirements engineering is comprised of two major tasks: </a:t>
            </a:r>
            <a:r>
              <a:rPr lang="en-US" u="sng"/>
              <a:t>analysis</a:t>
            </a:r>
            <a:r>
              <a:rPr lang="en-US"/>
              <a:t> and </a:t>
            </a:r>
            <a:r>
              <a:rPr lang="en-US" u="sng"/>
              <a:t>modeling</a:t>
            </a:r>
            <a:r>
              <a:rPr lang="en-US"/>
              <a:t>.</a:t>
            </a:r>
            <a:endParaRPr/>
          </a:p>
          <a:p>
            <a:pPr indent="-342900" lvl="0" marL="342900" rtl="0" algn="just">
              <a:spcBef>
                <a:spcPts val="592"/>
              </a:spcBef>
              <a:spcAft>
                <a:spcPts val="0"/>
              </a:spcAft>
              <a:buClr>
                <a:schemeClr val="dk1"/>
              </a:buClr>
              <a:buSzPct val="100000"/>
              <a:buChar char="•"/>
            </a:pPr>
            <a:r>
              <a:rPr lang="en-US"/>
              <a:t>The requirements themselves are the descriptions of the </a:t>
            </a:r>
            <a:r>
              <a:rPr b="1" i="1" lang="en-US"/>
              <a:t>system services </a:t>
            </a:r>
            <a:r>
              <a:rPr lang="en-US"/>
              <a:t>and </a:t>
            </a:r>
            <a:r>
              <a:rPr i="1" lang="en-US"/>
              <a:t>constraints</a:t>
            </a:r>
            <a:r>
              <a:rPr lang="en-US"/>
              <a:t> that are generated during the requirements engineering process.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p:nvPr/>
        </p:nvSpPr>
        <p:spPr>
          <a:xfrm>
            <a:off x="457200" y="274680"/>
            <a:ext cx="7291440" cy="1141200"/>
          </a:xfrm>
          <a:prstGeom prst="rect">
            <a:avLst/>
          </a:prstGeom>
          <a:noFill/>
          <a:ln>
            <a:noFill/>
          </a:ln>
        </p:spPr>
        <p:txBody>
          <a:bodyPr anchorCtr="1" anchor="ctr" bIns="44275" lIns="90350" spcFirstLastPara="1" rIns="90350" wrap="square" tIns="44275">
            <a:noAutofit/>
          </a:bodyPr>
          <a:lstStyle/>
          <a:p>
            <a:pPr indent="0" lvl="0" marL="0" marR="0" rtl="0" algn="l">
              <a:lnSpc>
                <a:spcPct val="100000"/>
              </a:lnSpc>
              <a:spcBef>
                <a:spcPts val="0"/>
              </a:spcBef>
              <a:spcAft>
                <a:spcPts val="0"/>
              </a:spcAft>
              <a:buNone/>
            </a:pPr>
            <a:r>
              <a:rPr b="1" i="0" lang="en-US" sz="2400" u="none" cap="none" strike="noStrike">
                <a:solidFill>
                  <a:srgbClr val="46424D"/>
                </a:solidFill>
                <a:latin typeface="Arial"/>
                <a:ea typeface="Arial"/>
                <a:cs typeface="Arial"/>
                <a:sym typeface="Arial"/>
              </a:rPr>
              <a:t>Requirements engineering</a:t>
            </a:r>
            <a:endParaRPr b="0" i="0" sz="1800" u="none" cap="none" strike="noStrike">
              <a:solidFill>
                <a:schemeClr val="dk1"/>
              </a:solidFill>
              <a:latin typeface="Calibri"/>
              <a:ea typeface="Calibri"/>
              <a:cs typeface="Calibri"/>
              <a:sym typeface="Calibri"/>
            </a:endParaRPr>
          </a:p>
        </p:txBody>
      </p:sp>
      <p:sp>
        <p:nvSpPr>
          <p:cNvPr id="125" name="Google Shape;125;p6"/>
          <p:cNvSpPr/>
          <p:nvPr/>
        </p:nvSpPr>
        <p:spPr>
          <a:xfrm>
            <a:off x="457200" y="1600200"/>
            <a:ext cx="8227800" cy="4524120"/>
          </a:xfrm>
          <a:prstGeom prst="rect">
            <a:avLst/>
          </a:prstGeom>
          <a:noFill/>
          <a:ln>
            <a:noFill/>
          </a:ln>
        </p:spPr>
        <p:txBody>
          <a:bodyPr anchorCtr="1" anchor="t" bIns="44275" lIns="90350" spcFirstLastPara="1" rIns="90350" wrap="square" tIns="44275">
            <a:noAutofit/>
          </a:bodyPr>
          <a:lstStyle/>
          <a:p>
            <a:pPr indent="-152400" lvl="0" marL="0" marR="0" rtl="0" algn="l">
              <a:lnSpc>
                <a:spcPct val="100000"/>
              </a:lnSpc>
              <a:spcBef>
                <a:spcPts val="0"/>
              </a:spcBef>
              <a:spcAft>
                <a:spcPts val="0"/>
              </a:spcAft>
              <a:buClr>
                <a:srgbClr val="46424D"/>
              </a:buClr>
              <a:buSzPts val="2400"/>
              <a:buFont typeface="Noto Sans Symbols"/>
              <a:buChar char="✧"/>
            </a:pPr>
            <a:r>
              <a:rPr b="0" i="0" lang="en-US" sz="2400" u="none" cap="none" strike="noStrike">
                <a:solidFill>
                  <a:srgbClr val="46424D"/>
                </a:solidFill>
                <a:latin typeface="Arial"/>
                <a:ea typeface="Arial"/>
                <a:cs typeface="Arial"/>
                <a:sym typeface="Arial"/>
              </a:rPr>
              <a:t>The process of establishing the services that the customer requires from a system and the constraints under which it operates and is developed.</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p:txBody>
      </p:sp>
      <p:sp>
        <p:nvSpPr>
          <p:cNvPr id="126" name="Google Shape;126;p6"/>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200" u="none" cap="none" strike="noStrike">
                <a:solidFill>
                  <a:srgbClr val="8B8B8B"/>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lang="en-US"/>
            </a:br>
            <a:r>
              <a:rPr lang="en-US"/>
              <a:t>Software requirements for the Ola app (cab booking system) </a:t>
            </a:r>
            <a:br>
              <a:rPr lang="en-US"/>
            </a:br>
            <a:endParaRPr/>
          </a:p>
        </p:txBody>
      </p:sp>
      <p:sp>
        <p:nvSpPr>
          <p:cNvPr id="132" name="Google Shape;132;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a:t>User Management</a:t>
            </a:r>
            <a:endParaRPr/>
          </a:p>
          <a:p>
            <a:pPr indent="-285750" lvl="1" marL="742950" rtl="0" algn="l">
              <a:spcBef>
                <a:spcPts val="392"/>
              </a:spcBef>
              <a:spcAft>
                <a:spcPts val="0"/>
              </a:spcAft>
              <a:buClr>
                <a:schemeClr val="dk1"/>
              </a:buClr>
              <a:buSzPct val="100000"/>
              <a:buChar char="–"/>
            </a:pPr>
            <a:r>
              <a:rPr lang="en-US"/>
              <a:t>FR1: User shall be able to register/login using phone number, email, or social accounts.</a:t>
            </a:r>
            <a:endParaRPr/>
          </a:p>
          <a:p>
            <a:pPr indent="-285750" lvl="1" marL="742950" rtl="0" algn="l">
              <a:spcBef>
                <a:spcPts val="392"/>
              </a:spcBef>
              <a:spcAft>
                <a:spcPts val="0"/>
              </a:spcAft>
              <a:buClr>
                <a:schemeClr val="dk1"/>
              </a:buClr>
              <a:buSzPct val="100000"/>
              <a:buChar char="–"/>
            </a:pPr>
            <a:r>
              <a:rPr lang="en-US"/>
              <a:t> FR2: User shall be able to manage profile (name, photo, payment options, etc.).</a:t>
            </a:r>
            <a:endParaRPr/>
          </a:p>
          <a:p>
            <a:pPr indent="-342900" lvl="0" marL="342900" rtl="0" algn="l">
              <a:spcBef>
                <a:spcPts val="448"/>
              </a:spcBef>
              <a:spcAft>
                <a:spcPts val="0"/>
              </a:spcAft>
              <a:buClr>
                <a:schemeClr val="dk1"/>
              </a:buClr>
              <a:buSzPct val="100000"/>
              <a:buChar char="•"/>
            </a:pPr>
            <a:r>
              <a:rPr lang="en-US"/>
              <a:t>Ride Booking</a:t>
            </a:r>
            <a:endParaRPr/>
          </a:p>
          <a:p>
            <a:pPr indent="-285750" lvl="1" marL="742950" rtl="0" algn="l">
              <a:spcBef>
                <a:spcPts val="392"/>
              </a:spcBef>
              <a:spcAft>
                <a:spcPts val="0"/>
              </a:spcAft>
              <a:buClr>
                <a:schemeClr val="dk1"/>
              </a:buClr>
              <a:buSzPct val="100000"/>
              <a:buChar char="–"/>
            </a:pPr>
            <a:r>
              <a:rPr lang="en-US"/>
              <a:t>FR3: User shall be able to book a ride by entering pickup and drop location.</a:t>
            </a:r>
            <a:endParaRPr/>
          </a:p>
          <a:p>
            <a:pPr indent="-285750" lvl="1" marL="742950" rtl="0" algn="l">
              <a:spcBef>
                <a:spcPts val="392"/>
              </a:spcBef>
              <a:spcAft>
                <a:spcPts val="0"/>
              </a:spcAft>
              <a:buClr>
                <a:schemeClr val="dk1"/>
              </a:buClr>
              <a:buSzPct val="100000"/>
              <a:buChar char="–"/>
            </a:pPr>
            <a:r>
              <a:rPr lang="en-US"/>
              <a:t>FR4: System shall display available cab options (Mini, Sedan, Auto, Bike, etc.) with estimated fare and arrival time.</a:t>
            </a:r>
            <a:endParaRPr/>
          </a:p>
          <a:p>
            <a:pPr indent="-285750" lvl="1" marL="742950" rtl="0" algn="l">
              <a:spcBef>
                <a:spcPts val="392"/>
              </a:spcBef>
              <a:spcAft>
                <a:spcPts val="0"/>
              </a:spcAft>
              <a:buClr>
                <a:schemeClr val="dk1"/>
              </a:buClr>
              <a:buSzPct val="100000"/>
              <a:buChar char="–"/>
            </a:pPr>
            <a:r>
              <a:rPr lang="en-US"/>
              <a:t>FR5: User shall be able to schedule rides for future.</a:t>
            </a:r>
            <a:endParaRPr/>
          </a:p>
          <a:p>
            <a:pPr indent="-342900" lvl="0" marL="342900" rtl="0" algn="l">
              <a:spcBef>
                <a:spcPts val="448"/>
              </a:spcBef>
              <a:spcAft>
                <a:spcPts val="0"/>
              </a:spcAft>
              <a:buClr>
                <a:schemeClr val="dk1"/>
              </a:buClr>
              <a:buSzPct val="100000"/>
              <a:buChar char="•"/>
            </a:pPr>
            <a:r>
              <a:rPr lang="en-US"/>
              <a:t>Ride Tracking &amp; Notifications</a:t>
            </a:r>
            <a:endParaRPr/>
          </a:p>
          <a:p>
            <a:pPr indent="-285750" lvl="1" marL="742950" rtl="0" algn="l">
              <a:spcBef>
                <a:spcPts val="392"/>
              </a:spcBef>
              <a:spcAft>
                <a:spcPts val="0"/>
              </a:spcAft>
              <a:buClr>
                <a:schemeClr val="dk1"/>
              </a:buClr>
              <a:buSzPct val="100000"/>
              <a:buChar char="–"/>
            </a:pPr>
            <a:r>
              <a:rPr lang="en-US"/>
              <a:t>FR9: The app shall show live GPS tracking of driver location to user.</a:t>
            </a:r>
            <a:endParaRPr/>
          </a:p>
          <a:p>
            <a:pPr indent="-285750" lvl="1" marL="742950" rtl="0" algn="l">
              <a:spcBef>
                <a:spcPts val="392"/>
              </a:spcBef>
              <a:spcAft>
                <a:spcPts val="0"/>
              </a:spcAft>
              <a:buClr>
                <a:schemeClr val="dk1"/>
              </a:buClr>
              <a:buSzPct val="100000"/>
              <a:buChar char="–"/>
            </a:pPr>
            <a:r>
              <a:rPr lang="en-US"/>
              <a:t>FR10: User and driver shall receive real-time notifications (ride confirmation, arrival, cancellation, etc.).</a:t>
            </a:r>
            <a:endParaRPr/>
          </a:p>
          <a:p>
            <a:pPr indent="-200660" lvl="0" marL="342900" rtl="0" algn="l">
              <a:spcBef>
                <a:spcPts val="448"/>
              </a:spcBef>
              <a:spcAft>
                <a:spcPts val="0"/>
              </a:spcAft>
              <a:buClr>
                <a:schemeClr val="dk1"/>
              </a:buClr>
              <a:buSzPct val="100000"/>
              <a:buNone/>
            </a:pPr>
            <a:r>
              <a:t/>
            </a:r>
            <a:endParaRPr/>
          </a:p>
          <a:p>
            <a:pPr indent="-200660" lvl="0" marL="342900" rtl="0" algn="l">
              <a:spcBef>
                <a:spcPts val="448"/>
              </a:spcBef>
              <a:spcAft>
                <a:spcPts val="0"/>
              </a:spcAft>
              <a:buClr>
                <a:schemeClr val="dk1"/>
              </a:buClr>
              <a:buSzPct val="100000"/>
              <a:buNone/>
            </a:pPr>
            <a:r>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Software requirements for the Ola app (cab booking system) Contd..</a:t>
            </a:r>
            <a:endParaRPr/>
          </a:p>
        </p:txBody>
      </p:sp>
      <p:sp>
        <p:nvSpPr>
          <p:cNvPr id="138" name="Google Shape;138;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dk1"/>
              </a:buClr>
              <a:buSzPct val="100000"/>
              <a:buChar char="•"/>
            </a:pPr>
            <a:r>
              <a:rPr lang="en-US" sz="2400"/>
              <a:t>Payment &amp; Wallet</a:t>
            </a:r>
            <a:endParaRPr/>
          </a:p>
          <a:p>
            <a:pPr indent="-285750" lvl="1" marL="742950" rtl="0" algn="l">
              <a:spcBef>
                <a:spcPts val="444"/>
              </a:spcBef>
              <a:spcAft>
                <a:spcPts val="0"/>
              </a:spcAft>
              <a:buClr>
                <a:schemeClr val="dk1"/>
              </a:buClr>
              <a:buSzPct val="100000"/>
              <a:buChar char="–"/>
            </a:pPr>
            <a:r>
              <a:rPr lang="en-US" sz="2400"/>
              <a:t>FR11: User shall be able to pay via cash, UPI, credit/debit cards, Ola Money.</a:t>
            </a:r>
            <a:endParaRPr/>
          </a:p>
          <a:p>
            <a:pPr indent="-285750" lvl="1" marL="742950" rtl="0" algn="l">
              <a:spcBef>
                <a:spcPts val="444"/>
              </a:spcBef>
              <a:spcAft>
                <a:spcPts val="0"/>
              </a:spcAft>
              <a:buClr>
                <a:schemeClr val="dk1"/>
              </a:buClr>
              <a:buSzPct val="100000"/>
              <a:buChar char="–"/>
            </a:pPr>
            <a:r>
              <a:rPr lang="en-US" sz="2400"/>
              <a:t>FR12: System shall generate digital invoices after ride completion.</a:t>
            </a:r>
            <a:endParaRPr/>
          </a:p>
          <a:p>
            <a:pPr indent="-342900" lvl="0" marL="342900" rtl="0" algn="l">
              <a:spcBef>
                <a:spcPts val="444"/>
              </a:spcBef>
              <a:spcAft>
                <a:spcPts val="0"/>
              </a:spcAft>
              <a:buClr>
                <a:schemeClr val="dk1"/>
              </a:buClr>
              <a:buSzPct val="100000"/>
              <a:buChar char="•"/>
            </a:pPr>
            <a:r>
              <a:rPr lang="en-US" sz="2400"/>
              <a:t>Ratings &amp; Feedback</a:t>
            </a:r>
            <a:endParaRPr/>
          </a:p>
          <a:p>
            <a:pPr indent="-285750" lvl="1" marL="742950" rtl="0" algn="l">
              <a:spcBef>
                <a:spcPts val="444"/>
              </a:spcBef>
              <a:spcAft>
                <a:spcPts val="0"/>
              </a:spcAft>
              <a:buClr>
                <a:schemeClr val="dk1"/>
              </a:buClr>
              <a:buSzPct val="100000"/>
              <a:buChar char="–"/>
            </a:pPr>
            <a:r>
              <a:rPr lang="en-US" sz="2400"/>
              <a:t>FR13: User shall be able to rate driver and ride experience.</a:t>
            </a:r>
            <a:endParaRPr/>
          </a:p>
          <a:p>
            <a:pPr indent="-285750" lvl="1" marL="742950" rtl="0" algn="l">
              <a:spcBef>
                <a:spcPts val="444"/>
              </a:spcBef>
              <a:spcAft>
                <a:spcPts val="0"/>
              </a:spcAft>
              <a:buClr>
                <a:schemeClr val="dk1"/>
              </a:buClr>
              <a:buSzPct val="100000"/>
              <a:buChar char="–"/>
            </a:pPr>
            <a:r>
              <a:rPr lang="en-US" sz="2400"/>
              <a:t>FR14: Driver shall also be able to rate passengers.</a:t>
            </a:r>
            <a:endParaRPr/>
          </a:p>
          <a:p>
            <a:pPr indent="-342900" lvl="0" marL="342900" rtl="0" algn="l">
              <a:spcBef>
                <a:spcPts val="407"/>
              </a:spcBef>
              <a:spcAft>
                <a:spcPts val="0"/>
              </a:spcAft>
              <a:buClr>
                <a:schemeClr val="dk1"/>
              </a:buClr>
              <a:buSzPct val="100000"/>
              <a:buChar char="•"/>
            </a:pPr>
            <a:r>
              <a:rPr lang="en-US" sz="2200"/>
              <a:t>Safety Features</a:t>
            </a:r>
            <a:endParaRPr/>
          </a:p>
          <a:p>
            <a:pPr indent="-285750" lvl="1" marL="742950" rtl="0" algn="l">
              <a:spcBef>
                <a:spcPts val="407"/>
              </a:spcBef>
              <a:spcAft>
                <a:spcPts val="0"/>
              </a:spcAft>
              <a:buClr>
                <a:schemeClr val="dk1"/>
              </a:buClr>
              <a:buSzPct val="100000"/>
              <a:buChar char="–"/>
            </a:pPr>
            <a:r>
              <a:rPr lang="en-US" sz="2200"/>
              <a:t>FR15: SOS button shall allow passengers to share ride details with emergency contacts.</a:t>
            </a:r>
            <a:endParaRPr/>
          </a:p>
          <a:p>
            <a:pPr indent="-285750" lvl="1" marL="742950" rtl="0" algn="l">
              <a:spcBef>
                <a:spcPts val="407"/>
              </a:spcBef>
              <a:spcAft>
                <a:spcPts val="0"/>
              </a:spcAft>
              <a:buClr>
                <a:schemeClr val="dk1"/>
              </a:buClr>
              <a:buSzPct val="100000"/>
              <a:buChar char="–"/>
            </a:pPr>
            <a:r>
              <a:rPr lang="en-US" sz="2200"/>
              <a:t>FR16: Ride-sharing link shall be provided for tracking by friends/family.</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User and System Requirements</a:t>
            </a:r>
            <a:endParaRPr/>
          </a:p>
        </p:txBody>
      </p:sp>
      <p:sp>
        <p:nvSpPr>
          <p:cNvPr id="144" name="Google Shape;144;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High-level needs and expectations of the end users (what the system should do, from the user’s perspective).</a:t>
            </a:r>
            <a:endParaRPr/>
          </a:p>
          <a:p>
            <a:pPr indent="-342900" lvl="0" marL="342900" rtl="0" algn="l">
              <a:spcBef>
                <a:spcPts val="592"/>
              </a:spcBef>
              <a:spcAft>
                <a:spcPts val="0"/>
              </a:spcAft>
              <a:buClr>
                <a:schemeClr val="dk1"/>
              </a:buClr>
              <a:buSzPct val="100000"/>
              <a:buNone/>
            </a:pPr>
            <a:r>
              <a:rPr lang="en-US"/>
              <a:t>Example (for Ola App):</a:t>
            </a:r>
            <a:endParaRPr/>
          </a:p>
          <a:p>
            <a:pPr indent="-285750" lvl="1" marL="742950" rtl="0" algn="l">
              <a:spcBef>
                <a:spcPts val="518"/>
              </a:spcBef>
              <a:spcAft>
                <a:spcPts val="0"/>
              </a:spcAft>
              <a:buClr>
                <a:schemeClr val="dk1"/>
              </a:buClr>
              <a:buSzPct val="100000"/>
              <a:buChar char="–"/>
            </a:pPr>
            <a:r>
              <a:rPr lang="en-US"/>
              <a:t> A user should be able to book a cab easily.</a:t>
            </a:r>
            <a:endParaRPr/>
          </a:p>
          <a:p>
            <a:pPr indent="-285750" lvl="1" marL="742950" rtl="0" algn="l">
              <a:spcBef>
                <a:spcPts val="518"/>
              </a:spcBef>
              <a:spcAft>
                <a:spcPts val="0"/>
              </a:spcAft>
              <a:buClr>
                <a:schemeClr val="dk1"/>
              </a:buClr>
              <a:buSzPct val="100000"/>
              <a:buChar char="–"/>
            </a:pPr>
            <a:r>
              <a:rPr lang="en-US"/>
              <a:t> The system should provide fare estimation before booking.</a:t>
            </a:r>
            <a:endParaRPr/>
          </a:p>
          <a:p>
            <a:pPr indent="-285750" lvl="1" marL="742950" rtl="0" algn="l">
              <a:spcBef>
                <a:spcPts val="518"/>
              </a:spcBef>
              <a:spcAft>
                <a:spcPts val="0"/>
              </a:spcAft>
              <a:buClr>
                <a:schemeClr val="dk1"/>
              </a:buClr>
              <a:buSzPct val="100000"/>
              <a:buChar char="–"/>
            </a:pPr>
            <a:r>
              <a:rPr lang="en-US"/>
              <a:t> A user should be able to track the driver in real-time.</a:t>
            </a:r>
            <a:endParaRPr/>
          </a:p>
          <a:p>
            <a:pPr indent="-285750" lvl="1" marL="742950" rtl="0" algn="l">
              <a:spcBef>
                <a:spcPts val="518"/>
              </a:spcBef>
              <a:spcAft>
                <a:spcPts val="0"/>
              </a:spcAft>
              <a:buClr>
                <a:schemeClr val="dk1"/>
              </a:buClr>
              <a:buSzPct val="100000"/>
              <a:buChar char="–"/>
            </a:pPr>
            <a:r>
              <a:rPr lang="en-US"/>
              <a:t> The system should allow multiple payment options (UPI, card, cash).</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System Requirements</a:t>
            </a:r>
            <a:endParaRPr/>
          </a:p>
        </p:txBody>
      </p:sp>
      <p:sp>
        <p:nvSpPr>
          <p:cNvPr id="150" name="Google Shape;150;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t>Detailed specifications that describe how the system will fulfill the user requirements.</a:t>
            </a:r>
            <a:endParaRPr/>
          </a:p>
          <a:p>
            <a:pPr indent="-342900" lvl="0" marL="342900" rtl="0" algn="l">
              <a:spcBef>
                <a:spcPts val="544"/>
              </a:spcBef>
              <a:spcAft>
                <a:spcPts val="0"/>
              </a:spcAft>
              <a:buClr>
                <a:schemeClr val="dk1"/>
              </a:buClr>
              <a:buSzPct val="100000"/>
              <a:buChar char="•"/>
            </a:pPr>
            <a:r>
              <a:rPr lang="en-US"/>
              <a:t>More technical and precise, often structured, sometimes using formal methods. </a:t>
            </a:r>
            <a:endParaRPr/>
          </a:p>
          <a:p>
            <a:pPr indent="-342900" lvl="0" marL="342900" rtl="0" algn="l">
              <a:spcBef>
                <a:spcPts val="544"/>
              </a:spcBef>
              <a:spcAft>
                <a:spcPts val="0"/>
              </a:spcAft>
              <a:buClr>
                <a:schemeClr val="dk1"/>
              </a:buClr>
              <a:buSzPct val="100000"/>
              <a:buChar char="•"/>
            </a:pPr>
            <a:r>
              <a:rPr lang="en-US"/>
              <a:t>They can be divided into:</a:t>
            </a:r>
            <a:endParaRPr/>
          </a:p>
          <a:p>
            <a:pPr indent="-285750" lvl="1" marL="742950" rtl="0" algn="l">
              <a:spcBef>
                <a:spcPts val="476"/>
              </a:spcBef>
              <a:spcAft>
                <a:spcPts val="0"/>
              </a:spcAft>
              <a:buClr>
                <a:schemeClr val="dk1"/>
              </a:buClr>
              <a:buSzPct val="100000"/>
              <a:buChar char="–"/>
            </a:pPr>
            <a:r>
              <a:rPr lang="en-US"/>
              <a:t> Functional Requirements – Define what functions the system should perform.</a:t>
            </a:r>
            <a:endParaRPr/>
          </a:p>
          <a:p>
            <a:pPr indent="-285750" lvl="1" marL="742950" rtl="0" algn="l">
              <a:spcBef>
                <a:spcPts val="476"/>
              </a:spcBef>
              <a:spcAft>
                <a:spcPts val="0"/>
              </a:spcAft>
              <a:buClr>
                <a:schemeClr val="dk1"/>
              </a:buClr>
              <a:buSzPct val="100000"/>
              <a:buChar char="–"/>
            </a:pPr>
            <a:r>
              <a:rPr lang="en-US"/>
              <a:t>  Non-Functional Requirements (NFRs) – Define quality attributes like performance, security, reliability, usability, etc.</a:t>
            </a:r>
            <a:endParaRPr/>
          </a:p>
          <a:p>
            <a:pPr indent="-285750" lvl="1" marL="742950" rtl="0" algn="l">
              <a:spcBef>
                <a:spcPts val="476"/>
              </a:spcBef>
              <a:spcAft>
                <a:spcPts val="0"/>
              </a:spcAft>
              <a:buClr>
                <a:schemeClr val="dk1"/>
              </a:buClr>
              <a:buSzPct val="100000"/>
              <a:buChar char="–"/>
            </a:pPr>
            <a:r>
              <a:rPr lang="en-US"/>
              <a:t>Focus: How the system will be designed and implemented.</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lang="en-US"/>
            </a:br>
            <a:r>
              <a:rPr lang="en-US"/>
              <a:t>Example (System requirement for Ola App)</a:t>
            </a:r>
            <a:br>
              <a:rPr lang="en-US"/>
            </a:br>
            <a:endParaRPr/>
          </a:p>
        </p:txBody>
      </p:sp>
      <p:sp>
        <p:nvSpPr>
          <p:cNvPr id="156" name="Google Shape;156;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just">
              <a:spcBef>
                <a:spcPts val="0"/>
              </a:spcBef>
              <a:spcAft>
                <a:spcPts val="0"/>
              </a:spcAft>
              <a:buClr>
                <a:schemeClr val="dk1"/>
              </a:buClr>
              <a:buSzPct val="100000"/>
              <a:buChar char="•"/>
            </a:pPr>
            <a:r>
              <a:rPr lang="en-US"/>
              <a:t> The system shall allow users to log in using mobile number + OTP authentication.</a:t>
            </a:r>
            <a:endParaRPr/>
          </a:p>
          <a:p>
            <a:pPr indent="-342900" lvl="0" marL="342900" rtl="0" algn="just">
              <a:spcBef>
                <a:spcPts val="496"/>
              </a:spcBef>
              <a:spcAft>
                <a:spcPts val="0"/>
              </a:spcAft>
              <a:buClr>
                <a:schemeClr val="dk1"/>
              </a:buClr>
              <a:buSzPct val="100000"/>
              <a:buChar char="•"/>
            </a:pPr>
            <a:r>
              <a:rPr lang="en-US"/>
              <a:t>  The system shall store ride history in the database for at least 6 months.</a:t>
            </a:r>
            <a:endParaRPr/>
          </a:p>
          <a:p>
            <a:pPr indent="-342900" lvl="0" marL="342900" rtl="0" algn="just">
              <a:spcBef>
                <a:spcPts val="496"/>
              </a:spcBef>
              <a:spcAft>
                <a:spcPts val="0"/>
              </a:spcAft>
              <a:buClr>
                <a:schemeClr val="dk1"/>
              </a:buClr>
              <a:buSzPct val="100000"/>
              <a:buChar char="•"/>
            </a:pPr>
            <a:r>
              <a:rPr lang="en-US"/>
              <a:t>  The system shall provide response time &lt; 2 seconds for booking confirmation.</a:t>
            </a:r>
            <a:endParaRPr/>
          </a:p>
          <a:p>
            <a:pPr indent="-342900" lvl="0" marL="342900" rtl="0" algn="l">
              <a:spcBef>
                <a:spcPts val="496"/>
              </a:spcBef>
              <a:spcAft>
                <a:spcPts val="0"/>
              </a:spcAft>
              <a:buClr>
                <a:schemeClr val="dk1"/>
              </a:buClr>
              <a:buSzPct val="100000"/>
              <a:buChar char="•"/>
            </a:pPr>
            <a:r>
              <a:rPr lang="en-US"/>
              <a:t>The system shall support 50,000 concurrent users without performance degradation. </a:t>
            </a:r>
            <a:endParaRPr/>
          </a:p>
          <a:p>
            <a:pPr indent="-342900" lvl="0" marL="342900" rtl="0" algn="l">
              <a:spcBef>
                <a:spcPts val="496"/>
              </a:spcBef>
              <a:spcAft>
                <a:spcPts val="0"/>
              </a:spcAft>
              <a:buClr>
                <a:schemeClr val="dk1"/>
              </a:buClr>
              <a:buSzPct val="100000"/>
              <a:buChar char="•"/>
            </a:pPr>
            <a:r>
              <a:rPr lang="en-US"/>
              <a:t>User Requirements → What the user wants (expressed simply, business-focused).</a:t>
            </a:r>
            <a:endParaRPr/>
          </a:p>
          <a:p>
            <a:pPr indent="-342900" lvl="0" marL="342900" rtl="0" algn="l">
              <a:spcBef>
                <a:spcPts val="496"/>
              </a:spcBef>
              <a:spcAft>
                <a:spcPts val="0"/>
              </a:spcAft>
              <a:buClr>
                <a:schemeClr val="dk1"/>
              </a:buClr>
              <a:buSzPct val="100000"/>
              <a:buChar char="•"/>
            </a:pPr>
            <a:r>
              <a:rPr lang="en-US"/>
              <a:t>System Requirements →How the system will meet those needs (detailed, technical, for developers/designers).</a:t>
            </a:r>
            <a:endParaRPr/>
          </a:p>
          <a:p>
            <a:pPr indent="-185420" lvl="0" marL="342900" rtl="0" algn="just">
              <a:spcBef>
                <a:spcPts val="496"/>
              </a:spcBef>
              <a:spcAft>
                <a:spcPts val="0"/>
              </a:spcAft>
              <a:buClr>
                <a:schemeClr val="dk1"/>
              </a:buClr>
              <a:buSzPct val="100000"/>
              <a:buNone/>
            </a:pPr>
            <a:r>
              <a:t/>
            </a:r>
            <a:endParaRPr/>
          </a:p>
          <a:p>
            <a:pPr indent="-185420" lvl="0" marL="342900" rtl="0" algn="just">
              <a:spcBef>
                <a:spcPts val="496"/>
              </a:spcBef>
              <a:spcAft>
                <a:spcPts val="0"/>
              </a:spcAft>
              <a:buClr>
                <a:schemeClr val="dk1"/>
              </a:buClr>
              <a:buSzPct val="100000"/>
              <a:buNone/>
            </a:pPr>
            <a:r>
              <a:t/>
            </a:r>
            <a:endParaRPr/>
          </a:p>
          <a:p>
            <a:pPr indent="-342900" lvl="0" marL="342900" rtl="0" algn="just">
              <a:spcBef>
                <a:spcPts val="496"/>
              </a:spcBef>
              <a:spcAft>
                <a:spcPts val="0"/>
              </a:spcAft>
              <a:buClr>
                <a:schemeClr val="dk1"/>
              </a:buClr>
              <a:buSzPct val="100000"/>
              <a:buNone/>
            </a:pPr>
            <a:r>
              <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2"/>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lang="en-US"/>
            </a:br>
            <a:r>
              <a:rPr lang="en-US" sz="3600"/>
              <a:t>User vs System Requirements (Example Ola )</a:t>
            </a:r>
            <a:br>
              <a:rPr lang="en-US"/>
            </a:br>
            <a:endParaRPr/>
          </a:p>
        </p:txBody>
      </p:sp>
      <p:graphicFrame>
        <p:nvGraphicFramePr>
          <p:cNvPr id="162" name="Google Shape;162;p12"/>
          <p:cNvGraphicFramePr/>
          <p:nvPr/>
        </p:nvGraphicFramePr>
        <p:xfrm>
          <a:off x="228600" y="914400"/>
          <a:ext cx="3000000" cy="3000000"/>
        </p:xfrm>
        <a:graphic>
          <a:graphicData uri="http://schemas.openxmlformats.org/drawingml/2006/table">
            <a:tbl>
              <a:tblPr bandRow="1" firstRow="1">
                <a:noFill/>
                <a:tableStyleId>{466ECD38-CB83-4CD3-91DD-66FDA00D7CF6}</a:tableStyleId>
              </a:tblPr>
              <a:tblGrid>
                <a:gridCol w="1676400"/>
                <a:gridCol w="2590800"/>
                <a:gridCol w="4419600"/>
              </a:tblGrid>
              <a:tr h="610475">
                <a:tc>
                  <a:txBody>
                    <a:bodyPr/>
                    <a:lstStyle/>
                    <a:p>
                      <a:pPr indent="0" lvl="0" marL="0" marR="0" rtl="0" algn="l">
                        <a:spcBef>
                          <a:spcPts val="0"/>
                        </a:spcBef>
                        <a:spcAft>
                          <a:spcPts val="0"/>
                        </a:spcAft>
                        <a:buNone/>
                      </a:pPr>
                      <a:r>
                        <a:rPr b="1" lang="en-US" sz="1800" u="none" cap="none" strike="noStrike">
                          <a:solidFill>
                            <a:schemeClr val="lt1"/>
                          </a:solidFill>
                          <a:latin typeface="Calibri"/>
                          <a:ea typeface="Calibri"/>
                          <a:cs typeface="Calibri"/>
                          <a:sym typeface="Calibri"/>
                        </a:rPr>
                        <a:t>Aspect</a:t>
                      </a:r>
                      <a:endParaRPr sz="1800"/>
                    </a:p>
                  </a:txBody>
                  <a:tcPr marT="45725" marB="45725" marR="91450" marL="91450"/>
                </a:tc>
                <a:tc>
                  <a:txBody>
                    <a:bodyPr/>
                    <a:lstStyle/>
                    <a:p>
                      <a:pPr indent="0" lvl="0" marL="0" marR="0" rtl="0" algn="l">
                        <a:spcBef>
                          <a:spcPts val="0"/>
                        </a:spcBef>
                        <a:spcAft>
                          <a:spcPts val="0"/>
                        </a:spcAft>
                        <a:buNone/>
                      </a:pPr>
                      <a:r>
                        <a:rPr b="1" lang="en-US" sz="1800">
                          <a:solidFill>
                            <a:schemeClr val="lt1"/>
                          </a:solidFill>
                          <a:latin typeface="Calibri"/>
                          <a:ea typeface="Calibri"/>
                          <a:cs typeface="Calibri"/>
                          <a:sym typeface="Calibri"/>
                        </a:rPr>
                        <a:t>User requirements(what users want)</a:t>
                      </a:r>
                      <a:endParaRPr sz="1800"/>
                    </a:p>
                  </a:txBody>
                  <a:tcPr marT="45725" marB="45725" marR="91450" marL="91450"/>
                </a:tc>
                <a:tc>
                  <a:txBody>
                    <a:bodyPr/>
                    <a:lstStyle/>
                    <a:p>
                      <a:pPr indent="0" lvl="0" marL="0" marR="0" rtl="0" algn="l">
                        <a:spcBef>
                          <a:spcPts val="0"/>
                        </a:spcBef>
                        <a:spcAft>
                          <a:spcPts val="0"/>
                        </a:spcAft>
                        <a:buNone/>
                      </a:pPr>
                      <a:r>
                        <a:rPr b="1" lang="en-US" sz="1800">
                          <a:solidFill>
                            <a:schemeClr val="lt1"/>
                          </a:solidFill>
                          <a:latin typeface="Calibri"/>
                          <a:ea typeface="Calibri"/>
                          <a:cs typeface="Calibri"/>
                          <a:sym typeface="Calibri"/>
                        </a:rPr>
                        <a:t>System Requirements</a:t>
                      </a:r>
                      <a:r>
                        <a:rPr b="1" lang="en-US" sz="1800">
                          <a:solidFill>
                            <a:schemeClr val="lt1"/>
                          </a:solidFill>
                          <a:latin typeface="Calibri"/>
                          <a:ea typeface="Calibri"/>
                          <a:cs typeface="Calibri"/>
                          <a:sym typeface="Calibri"/>
                        </a:rPr>
                        <a:t> </a:t>
                      </a:r>
                      <a:r>
                        <a:rPr b="1" lang="en-US" sz="1800">
                          <a:solidFill>
                            <a:schemeClr val="lt1"/>
                          </a:solidFill>
                          <a:latin typeface="Calibri"/>
                          <a:ea typeface="Calibri"/>
                          <a:cs typeface="Calibri"/>
                          <a:sym typeface="Calibri"/>
                        </a:rPr>
                        <a:t>(how system will provide it) </a:t>
                      </a:r>
                      <a:endParaRPr sz="1800"/>
                    </a:p>
                  </a:txBody>
                  <a:tcPr marT="45725" marB="45725" marR="91450" marL="91450"/>
                </a:tc>
              </a:tr>
              <a:tr h="1133750">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Booking a cab</a:t>
                      </a:r>
                      <a:endParaRPr sz="1800"/>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User should be able to book a cab quickly</a:t>
                      </a:r>
                      <a:endParaRPr sz="1800"/>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System shall provide a cab search and booking module</a:t>
                      </a:r>
                      <a:r>
                        <a:rPr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that displays available drivers within 5 km and confirms booking within 2 seconds</a:t>
                      </a:r>
                      <a:endParaRPr sz="1800"/>
                    </a:p>
                  </a:txBody>
                  <a:tcPr marT="45725" marB="45725" marR="91450" marL="91450"/>
                </a:tc>
              </a:tr>
              <a:tr h="1109100">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Fare estimation</a:t>
                      </a:r>
                      <a:endParaRPr sz="1800"/>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User should see the fare before confirming</a:t>
                      </a:r>
                      <a:endParaRPr sz="1800"/>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System shall calculate estimated fare</a:t>
                      </a:r>
                      <a:r>
                        <a:rPr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using distance (Google Maps API) + base fare + surge pricing rules, and display it in the app.</a:t>
                      </a:r>
                      <a:endParaRPr sz="1800"/>
                    </a:p>
                  </a:txBody>
                  <a:tcPr marT="45725" marB="45725" marR="91450" marL="91450"/>
                </a:tc>
              </a:tr>
              <a:tr h="872100">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Ride tracking</a:t>
                      </a:r>
                      <a:endParaRPr sz="1800"/>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User wants to track the driver’s location in real time</a:t>
                      </a:r>
                      <a:endParaRPr sz="1800"/>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System shall integrate with GPS services</a:t>
                      </a:r>
                      <a:r>
                        <a:rPr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and update driver’s location on the user’s map every </a:t>
                      </a:r>
                      <a:r>
                        <a:rPr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5 seconds</a:t>
                      </a:r>
                      <a:endParaRPr sz="1800"/>
                    </a:p>
                  </a:txBody>
                  <a:tcPr marT="45725" marB="45725" marR="91450" marL="91450"/>
                </a:tc>
              </a:tr>
              <a:tr h="1109100">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Payment options</a:t>
                      </a:r>
                      <a:endParaRPr sz="1800"/>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User wants multiple ways to pay (UPI, card, cash). </a:t>
                      </a:r>
                      <a:endParaRPr sz="1800"/>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System shall integrate with payment gateways</a:t>
                      </a:r>
                      <a:r>
                        <a:rPr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 (UPI, Razorpay, PayPal, credit/debit card) and allow </a:t>
                      </a:r>
                      <a:r>
                        <a:rPr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cash-on-delivery option. </a:t>
                      </a:r>
                      <a:endParaRPr sz="1800"/>
                    </a:p>
                  </a:txBody>
                  <a:tcPr marT="45725" marB="45725" marR="91450" marL="91450"/>
                </a:tc>
              </a:tr>
              <a:tr h="1109100">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Ride history</a:t>
                      </a:r>
                      <a:endParaRPr sz="1800"/>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User wants to view past rides</a:t>
                      </a:r>
                      <a:endParaRPr sz="1800"/>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System shall store ride history in the database for 6 monthsand provide an option to view/download it in the app</a:t>
                      </a:r>
                      <a:endParaRPr sz="1800"/>
                    </a:p>
                  </a:txBody>
                  <a:tcPr marT="45725" marB="45725" marR="91450" marL="9145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User vs System Requirements </a:t>
            </a:r>
            <a:br>
              <a:rPr lang="en-US"/>
            </a:br>
            <a:r>
              <a:rPr lang="en-US"/>
              <a:t>Contd…</a:t>
            </a:r>
            <a:endParaRPr/>
          </a:p>
        </p:txBody>
      </p:sp>
      <p:sp>
        <p:nvSpPr>
          <p:cNvPr id="168" name="Google Shape;168;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User requirements are high-level, simple, and user-focused.</a:t>
            </a:r>
            <a:endParaRPr/>
          </a:p>
          <a:p>
            <a:pPr indent="-342900" lvl="0" marL="342900" rtl="0" algn="l">
              <a:spcBef>
                <a:spcPts val="640"/>
              </a:spcBef>
              <a:spcAft>
                <a:spcPts val="0"/>
              </a:spcAft>
              <a:buClr>
                <a:schemeClr val="dk1"/>
              </a:buClr>
              <a:buSzPts val="3200"/>
              <a:buChar char="•"/>
            </a:pPr>
            <a:r>
              <a:rPr lang="en-US"/>
              <a:t>System requirements are detailed, technical, and implementation-focused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User &amp; System Requirements Mapping</a:t>
            </a:r>
            <a:endParaRPr/>
          </a:p>
        </p:txBody>
      </p:sp>
      <p:sp>
        <p:nvSpPr>
          <p:cNvPr id="174" name="Google Shape;174;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514350" lvl="0" marL="514350" rtl="0" algn="l">
              <a:spcBef>
                <a:spcPts val="0"/>
              </a:spcBef>
              <a:spcAft>
                <a:spcPts val="0"/>
              </a:spcAft>
              <a:buClr>
                <a:schemeClr val="dk1"/>
              </a:buClr>
              <a:buSzPct val="100000"/>
              <a:buAutoNum type="arabicPeriod"/>
            </a:pPr>
            <a:r>
              <a:rPr lang="en-US"/>
              <a:t>Booking a Cab</a:t>
            </a:r>
            <a:endParaRPr/>
          </a:p>
          <a:p>
            <a:pPr indent="-342900" lvl="0" marL="342900" rtl="0" algn="l">
              <a:spcBef>
                <a:spcPts val="592"/>
              </a:spcBef>
              <a:spcAft>
                <a:spcPts val="0"/>
              </a:spcAft>
              <a:buClr>
                <a:schemeClr val="dk1"/>
              </a:buClr>
              <a:buSzPct val="100000"/>
              <a:buNone/>
            </a:pPr>
            <a:r>
              <a:rPr lang="en-US" u="sng"/>
              <a:t>User Requirement</a:t>
            </a:r>
            <a:r>
              <a:rPr lang="en-US"/>
              <a:t>: User should be able to book a cab quickly.</a:t>
            </a:r>
            <a:endParaRPr/>
          </a:p>
          <a:p>
            <a:pPr indent="-342900" lvl="0" marL="342900" rtl="0" algn="l">
              <a:spcBef>
                <a:spcPts val="592"/>
              </a:spcBef>
              <a:spcAft>
                <a:spcPts val="0"/>
              </a:spcAft>
              <a:buClr>
                <a:schemeClr val="dk1"/>
              </a:buClr>
              <a:buSzPct val="100000"/>
              <a:buNone/>
            </a:pPr>
            <a:r>
              <a:rPr lang="en-US" u="sng"/>
              <a:t>System Requirements</a:t>
            </a:r>
            <a:r>
              <a:rPr lang="en-US"/>
              <a:t>:</a:t>
            </a:r>
            <a:endParaRPr/>
          </a:p>
          <a:p>
            <a:pPr indent="-342900" lvl="0" marL="342900" rtl="0" algn="l">
              <a:spcBef>
                <a:spcPts val="592"/>
              </a:spcBef>
              <a:spcAft>
                <a:spcPts val="0"/>
              </a:spcAft>
              <a:buClr>
                <a:schemeClr val="dk1"/>
              </a:buClr>
              <a:buSzPct val="100000"/>
              <a:buChar char="•"/>
            </a:pPr>
            <a:r>
              <a:rPr lang="en-US"/>
              <a:t> System shall provide a cab search and booking module.</a:t>
            </a:r>
            <a:endParaRPr/>
          </a:p>
          <a:p>
            <a:pPr indent="-342900" lvl="0" marL="342900" rtl="0" algn="l">
              <a:spcBef>
                <a:spcPts val="592"/>
              </a:spcBef>
              <a:spcAft>
                <a:spcPts val="0"/>
              </a:spcAft>
              <a:buClr>
                <a:schemeClr val="dk1"/>
              </a:buClr>
              <a:buSzPct val="100000"/>
              <a:buChar char="•"/>
            </a:pPr>
            <a:r>
              <a:rPr lang="en-US"/>
              <a:t>System shall display available drivers within 5 km of user’s location.</a:t>
            </a:r>
            <a:endParaRPr/>
          </a:p>
          <a:p>
            <a:pPr indent="-342900" lvl="0" marL="342900" rtl="0" algn="l">
              <a:spcBef>
                <a:spcPts val="592"/>
              </a:spcBef>
              <a:spcAft>
                <a:spcPts val="0"/>
              </a:spcAft>
              <a:buClr>
                <a:schemeClr val="dk1"/>
              </a:buClr>
              <a:buSzPct val="100000"/>
              <a:buChar char="•"/>
            </a:pPr>
            <a:r>
              <a:rPr lang="en-US"/>
              <a:t>System shall confirm booking within 2 seconds.</a:t>
            </a:r>
            <a:endParaRPr/>
          </a:p>
          <a:p>
            <a:pPr indent="-514350" lvl="0" marL="514350" rtl="0" algn="l">
              <a:spcBef>
                <a:spcPts val="592"/>
              </a:spcBef>
              <a:spcAft>
                <a:spcPts val="0"/>
              </a:spcAft>
              <a:buClr>
                <a:schemeClr val="dk1"/>
              </a:buClr>
              <a:buSzPct val="100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User &amp; System Requirements Mapping</a:t>
            </a:r>
            <a:endParaRPr/>
          </a:p>
        </p:txBody>
      </p:sp>
      <p:sp>
        <p:nvSpPr>
          <p:cNvPr id="180" name="Google Shape;180;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None/>
            </a:pPr>
            <a:r>
              <a:rPr lang="en-US"/>
              <a:t>2. Fare Estimation</a:t>
            </a:r>
            <a:endParaRPr/>
          </a:p>
          <a:p>
            <a:pPr indent="-342900" lvl="0" marL="342900" rtl="0" algn="l">
              <a:spcBef>
                <a:spcPts val="592"/>
              </a:spcBef>
              <a:spcAft>
                <a:spcPts val="0"/>
              </a:spcAft>
              <a:buClr>
                <a:schemeClr val="dk1"/>
              </a:buClr>
              <a:buSzPct val="100000"/>
              <a:buChar char="•"/>
            </a:pPr>
            <a:r>
              <a:rPr lang="en-US"/>
              <a:t>User Requirement: User should see the fare before confirming the ride.</a:t>
            </a:r>
            <a:endParaRPr/>
          </a:p>
          <a:p>
            <a:pPr indent="-342900" lvl="0" marL="342900" rtl="0" algn="l">
              <a:spcBef>
                <a:spcPts val="592"/>
              </a:spcBef>
              <a:spcAft>
                <a:spcPts val="0"/>
              </a:spcAft>
              <a:buClr>
                <a:schemeClr val="dk1"/>
              </a:buClr>
              <a:buSzPct val="100000"/>
              <a:buNone/>
            </a:pPr>
            <a:r>
              <a:rPr lang="en-US"/>
              <a:t>System Requirements:</a:t>
            </a:r>
            <a:endParaRPr/>
          </a:p>
          <a:p>
            <a:pPr indent="-342900" lvl="0" marL="342900" rtl="0" algn="l">
              <a:spcBef>
                <a:spcPts val="592"/>
              </a:spcBef>
              <a:spcAft>
                <a:spcPts val="0"/>
              </a:spcAft>
              <a:buClr>
                <a:schemeClr val="dk1"/>
              </a:buClr>
              <a:buSzPct val="100000"/>
              <a:buChar char="•"/>
            </a:pPr>
            <a:r>
              <a:rPr lang="en-US"/>
              <a:t>System shall calculate estimated fare using distance (Google Maps API).</a:t>
            </a:r>
            <a:endParaRPr/>
          </a:p>
          <a:p>
            <a:pPr indent="-342900" lvl="0" marL="342900" rtl="0" algn="l">
              <a:spcBef>
                <a:spcPts val="592"/>
              </a:spcBef>
              <a:spcAft>
                <a:spcPts val="0"/>
              </a:spcAft>
              <a:buClr>
                <a:schemeClr val="dk1"/>
              </a:buClr>
              <a:buSzPct val="100000"/>
              <a:buChar char="•"/>
            </a:pPr>
            <a:r>
              <a:rPr lang="en-US"/>
              <a:t>System shall include base fare + surge pricing + taxes in fare calculation</a:t>
            </a:r>
            <a:endParaRPr/>
          </a:p>
          <a:p>
            <a:pPr indent="-342900" lvl="0" marL="342900" rtl="0" algn="l">
              <a:spcBef>
                <a:spcPts val="592"/>
              </a:spcBef>
              <a:spcAft>
                <a:spcPts val="0"/>
              </a:spcAft>
              <a:buClr>
                <a:schemeClr val="dk1"/>
              </a:buClr>
              <a:buSzPct val="100000"/>
              <a:buChar char="•"/>
            </a:pPr>
            <a:r>
              <a:rPr lang="en-US"/>
              <a:t>System shall display fare estimation in the app UI before ride confirmation</a:t>
            </a:r>
            <a:endParaRPr/>
          </a:p>
          <a:p>
            <a:pPr indent="-154940" lvl="0" marL="342900" rtl="0" algn="l">
              <a:spcBef>
                <a:spcPts val="592"/>
              </a:spcBef>
              <a:spcAft>
                <a:spcPts val="0"/>
              </a:spcAft>
              <a:buClr>
                <a:schemeClr val="dk1"/>
              </a:buClr>
              <a:buSzPct val="100000"/>
              <a:buNone/>
            </a:pPr>
            <a:r>
              <a:t/>
            </a:r>
            <a:endParaRPr/>
          </a:p>
          <a:p>
            <a:pPr indent="-342900" lvl="0" marL="342900" rtl="0" algn="l">
              <a:spcBef>
                <a:spcPts val="592"/>
              </a:spcBef>
              <a:spcAft>
                <a:spcPts val="0"/>
              </a:spcAft>
              <a:buClr>
                <a:schemeClr val="dk1"/>
              </a:buClr>
              <a:buSzPct val="100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6"/>
          <p:cNvSpPr/>
          <p:nvPr/>
        </p:nvSpPr>
        <p:spPr>
          <a:xfrm>
            <a:off x="457200" y="274680"/>
            <a:ext cx="7291440" cy="114120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16"/>
          <p:cNvSpPr/>
          <p:nvPr/>
        </p:nvSpPr>
        <p:spPr>
          <a:xfrm>
            <a:off x="457200" y="4953000"/>
            <a:ext cx="8227800" cy="1171320"/>
          </a:xfrm>
          <a:prstGeom prst="rect">
            <a:avLst/>
          </a:prstGeom>
          <a:noFill/>
          <a:ln>
            <a:noFill/>
          </a:ln>
        </p:spPr>
        <p:txBody>
          <a:bodyPr anchorCtr="1" anchor="t" bIns="45000" lIns="90000" spcFirstLastPara="1" rIns="90000" wrap="square" tIns="45000">
            <a:noAutofit/>
          </a:bodyPr>
          <a:lstStyle/>
          <a:p>
            <a:pPr indent="0" lvl="0" marL="0" marR="0" rtl="0" algn="l">
              <a:lnSpc>
                <a:spcPct val="100000"/>
              </a:lnSpc>
              <a:spcBef>
                <a:spcPts val="0"/>
              </a:spcBef>
              <a:spcAft>
                <a:spcPts val="0"/>
              </a:spcAft>
              <a:buNone/>
            </a:pPr>
            <a:r>
              <a:t/>
            </a:r>
            <a:endParaRPr b="0" i="0" sz="2400" u="none" cap="none" strike="noStrike">
              <a:solidFill>
                <a:srgbClr val="46424D"/>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46424D"/>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46424D"/>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46424D"/>
              </a:solidFill>
              <a:latin typeface="Arial"/>
              <a:ea typeface="Arial"/>
              <a:cs typeface="Arial"/>
              <a:sym typeface="Arial"/>
            </a:endParaRPr>
          </a:p>
          <a:p>
            <a:pPr indent="-152400" lvl="0" marL="0" marR="0" rtl="0" algn="l">
              <a:lnSpc>
                <a:spcPct val="100000"/>
              </a:lnSpc>
              <a:spcBef>
                <a:spcPts val="0"/>
              </a:spcBef>
              <a:spcAft>
                <a:spcPts val="0"/>
              </a:spcAft>
              <a:buClr>
                <a:srgbClr val="46424D"/>
              </a:buClr>
              <a:buSzPts val="2400"/>
              <a:buFont typeface="Noto Sans Symbols"/>
              <a:buChar char="✧"/>
            </a:pPr>
            <a:r>
              <a:rPr b="0" i="0" lang="en-US" sz="2400" u="none" cap="none" strike="noStrike">
                <a:solidFill>
                  <a:srgbClr val="46424D"/>
                </a:solidFill>
                <a:latin typeface="Arial"/>
                <a:ea typeface="Arial"/>
                <a:cs typeface="Arial"/>
                <a:sym typeface="Arial"/>
              </a:rPr>
              <a:t>Functional and non-functional requirements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6"/>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200" u="none" cap="none" strike="noStrike">
                <a:solidFill>
                  <a:srgbClr val="8B8B8B"/>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
        <p:nvSpPr>
          <p:cNvPr id="188" name="Google Shape;188;p16"/>
          <p:cNvSpPr/>
          <p:nvPr/>
        </p:nvSpPr>
        <p:spPr>
          <a:xfrm>
            <a:off x="609600" y="990600"/>
            <a:ext cx="784860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4000" u="none" cap="none" strike="noStrike">
                <a:solidFill>
                  <a:schemeClr val="dk1"/>
                </a:solidFill>
                <a:latin typeface="Calibri"/>
                <a:ea typeface="Calibri"/>
                <a:cs typeface="Calibri"/>
                <a:sym typeface="Calibri"/>
              </a:rPr>
              <a:t>System requirements describe what </a:t>
            </a:r>
            <a:r>
              <a:rPr b="0" i="0" lang="en-US" sz="4000" u="sng" cap="none" strike="noStrike">
                <a:solidFill>
                  <a:schemeClr val="dk1"/>
                </a:solidFill>
                <a:latin typeface="Calibri"/>
                <a:ea typeface="Calibri"/>
                <a:cs typeface="Calibri"/>
                <a:sym typeface="Calibri"/>
              </a:rPr>
              <a:t>a system should do </a:t>
            </a:r>
            <a:r>
              <a:rPr b="0" i="0" lang="en-US" sz="4000" u="none" cap="none" strike="noStrike">
                <a:solidFill>
                  <a:schemeClr val="dk1"/>
                </a:solidFill>
                <a:latin typeface="Calibri"/>
                <a:ea typeface="Calibri"/>
                <a:cs typeface="Calibri"/>
                <a:sym typeface="Calibri"/>
              </a:rPr>
              <a:t>(functional) and </a:t>
            </a:r>
            <a:r>
              <a:rPr b="0" i="0" lang="en-US" sz="4000" u="sng" cap="none" strike="noStrike">
                <a:solidFill>
                  <a:schemeClr val="dk1"/>
                </a:solidFill>
                <a:latin typeface="Calibri"/>
                <a:ea typeface="Calibri"/>
                <a:cs typeface="Calibri"/>
                <a:sym typeface="Calibri"/>
              </a:rPr>
              <a:t>how well it should perform </a:t>
            </a:r>
            <a:r>
              <a:rPr b="0" i="0" lang="en-US" sz="4000" u="none" cap="none" strike="noStrike">
                <a:solidFill>
                  <a:schemeClr val="dk1"/>
                </a:solidFill>
                <a:latin typeface="Calibri"/>
                <a:ea typeface="Calibri"/>
                <a:cs typeface="Calibri"/>
                <a:sym typeface="Calibri"/>
              </a:rPr>
              <a:t>(non-functional).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rPr lang="en-US" sz="4000">
                <a:solidFill>
                  <a:schemeClr val="dk1"/>
                </a:solidFill>
                <a:latin typeface="Calibri"/>
                <a:ea typeface="Calibri"/>
                <a:cs typeface="Calibri"/>
                <a:sym typeface="Calibri"/>
              </a:rPr>
              <a:t>They act as a bridge between user needs and the system design</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p:nvPr/>
        </p:nvSpPr>
        <p:spPr>
          <a:xfrm>
            <a:off x="380880" y="266760"/>
            <a:ext cx="8380080" cy="11030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Functional and non-functional requirements</a:t>
            </a:r>
            <a:endParaRPr sz="1800">
              <a:solidFill>
                <a:schemeClr val="dk1"/>
              </a:solidFill>
              <a:latin typeface="Calibri"/>
              <a:ea typeface="Calibri"/>
              <a:cs typeface="Calibri"/>
              <a:sym typeface="Calibri"/>
            </a:endParaRPr>
          </a:p>
        </p:txBody>
      </p:sp>
      <p:sp>
        <p:nvSpPr>
          <p:cNvPr id="194" name="Google Shape;194;p17"/>
          <p:cNvSpPr/>
          <p:nvPr/>
        </p:nvSpPr>
        <p:spPr>
          <a:xfrm>
            <a:off x="457200" y="1798560"/>
            <a:ext cx="8227800" cy="4524120"/>
          </a:xfrm>
          <a:prstGeom prst="rect">
            <a:avLst/>
          </a:prstGeom>
          <a:noFill/>
          <a:ln>
            <a:noFill/>
          </a:ln>
        </p:spPr>
        <p:txBody>
          <a:bodyPr anchorCtr="1" anchor="t" bIns="45000" lIns="90000" spcFirstLastPara="1" rIns="90000" wrap="square" tIns="45000">
            <a:noAutofit/>
          </a:bodyPr>
          <a:lstStyle/>
          <a:p>
            <a:pPr indent="-152400" lvl="0" marL="0" marR="0" rtl="0" algn="l">
              <a:lnSpc>
                <a:spcPct val="9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Functional requirements</a:t>
            </a:r>
            <a:endParaRPr sz="1800">
              <a:solidFill>
                <a:schemeClr val="dk1"/>
              </a:solidFill>
              <a:latin typeface="Calibri"/>
              <a:ea typeface="Calibri"/>
              <a:cs typeface="Calibri"/>
              <a:sym typeface="Calibri"/>
            </a:endParaRPr>
          </a:p>
          <a:p>
            <a:pPr indent="-127000" lvl="1" marL="457200" marR="0" rtl="0" algn="l">
              <a:lnSpc>
                <a:spcPct val="9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Statements of services the system should provide, how the system should react to particular inputs and how the system should behave in particular situations.</a:t>
            </a:r>
            <a:endParaRPr b="0" i="0" sz="1800" u="none" cap="none" strike="noStrike">
              <a:solidFill>
                <a:schemeClr val="dk1"/>
              </a:solidFill>
              <a:latin typeface="Calibri"/>
              <a:ea typeface="Calibri"/>
              <a:cs typeface="Calibri"/>
              <a:sym typeface="Calibri"/>
            </a:endParaRPr>
          </a:p>
          <a:p>
            <a:pPr indent="-127000" lvl="1" marL="457200" marR="0" rtl="0" algn="l">
              <a:lnSpc>
                <a:spcPct val="9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May state what the system should not do.</a:t>
            </a:r>
            <a:endParaRPr b="0" i="0" sz="1800" u="none" cap="none" strike="noStrike">
              <a:solidFill>
                <a:schemeClr val="dk1"/>
              </a:solidFill>
              <a:latin typeface="Calibri"/>
              <a:ea typeface="Calibri"/>
              <a:cs typeface="Calibri"/>
              <a:sym typeface="Calibri"/>
            </a:endParaRPr>
          </a:p>
          <a:p>
            <a:pPr indent="-152400" lvl="0" marL="0" marR="0" rtl="0" algn="l">
              <a:lnSpc>
                <a:spcPct val="9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Non-functional requirements</a:t>
            </a:r>
            <a:endParaRPr sz="1800">
              <a:solidFill>
                <a:schemeClr val="dk1"/>
              </a:solidFill>
              <a:latin typeface="Calibri"/>
              <a:ea typeface="Calibri"/>
              <a:cs typeface="Calibri"/>
              <a:sym typeface="Calibri"/>
            </a:endParaRPr>
          </a:p>
          <a:p>
            <a:pPr indent="-127000" lvl="1" marL="457200" marR="0" rtl="0" algn="l">
              <a:lnSpc>
                <a:spcPct val="9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Constraints on the services or functions offered by the system such as timing constraints, constraints on the development process, standards, etc.</a:t>
            </a:r>
            <a:endParaRPr b="0" i="0" sz="1800" u="none" cap="none" strike="noStrike">
              <a:solidFill>
                <a:schemeClr val="dk1"/>
              </a:solidFill>
              <a:latin typeface="Calibri"/>
              <a:ea typeface="Calibri"/>
              <a:cs typeface="Calibri"/>
              <a:sym typeface="Calibri"/>
            </a:endParaRPr>
          </a:p>
          <a:p>
            <a:pPr indent="-127000" lvl="1" marL="457200" marR="0" rtl="0" algn="l">
              <a:lnSpc>
                <a:spcPct val="9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Often apply to the system as a whole rather than individual features or services.</a:t>
            </a:r>
            <a:endParaRPr b="0" i="0" sz="1800" u="none" cap="none" strike="noStrike">
              <a:solidFill>
                <a:schemeClr val="dk1"/>
              </a:solidFill>
              <a:latin typeface="Calibri"/>
              <a:ea typeface="Calibri"/>
              <a:cs typeface="Calibri"/>
              <a:sym typeface="Calibri"/>
            </a:endParaRPr>
          </a:p>
          <a:p>
            <a:pPr indent="-152400" lvl="0" marL="0" marR="0" rtl="0" algn="l">
              <a:lnSpc>
                <a:spcPct val="9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Domain requirements</a:t>
            </a:r>
            <a:endParaRPr sz="1800">
              <a:solidFill>
                <a:schemeClr val="dk1"/>
              </a:solidFill>
              <a:latin typeface="Calibri"/>
              <a:ea typeface="Calibri"/>
              <a:cs typeface="Calibri"/>
              <a:sym typeface="Calibri"/>
            </a:endParaRPr>
          </a:p>
          <a:p>
            <a:pPr indent="-127000" lvl="1" marL="457200" marR="0" rtl="0" algn="l">
              <a:lnSpc>
                <a:spcPct val="9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Constraints on the system from the domain of operation</a:t>
            </a:r>
            <a:endParaRPr b="0" i="0" sz="1800" u="none" cap="none" strike="noStrike">
              <a:solidFill>
                <a:schemeClr val="dk1"/>
              </a:solidFill>
              <a:latin typeface="Calibri"/>
              <a:ea typeface="Calibri"/>
              <a:cs typeface="Calibri"/>
              <a:sym typeface="Calibri"/>
            </a:endParaRPr>
          </a:p>
        </p:txBody>
      </p:sp>
      <p:sp>
        <p:nvSpPr>
          <p:cNvPr id="195" name="Google Shape;195;p17"/>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8"/>
          <p:cNvSpPr/>
          <p:nvPr/>
        </p:nvSpPr>
        <p:spPr>
          <a:xfrm>
            <a:off x="228600" y="304920"/>
            <a:ext cx="8608680" cy="6094080"/>
          </a:xfrm>
          <a:prstGeom prst="rect">
            <a:avLst/>
          </a:prstGeom>
          <a:noFill/>
          <a:ln>
            <a:noFill/>
          </a:ln>
        </p:spPr>
        <p:txBody>
          <a:bodyPr anchorCtr="1" anchor="t" bIns="45000" lIns="90000" spcFirstLastPara="1" rIns="90000" wrap="square" tIns="45000">
            <a:noAutofit/>
          </a:bodyPr>
          <a:lstStyle/>
          <a:p>
            <a:pPr indent="0" lvl="0" marL="0" marR="0" rtl="0" algn="l">
              <a:lnSpc>
                <a:spcPct val="100000"/>
              </a:lnSpc>
              <a:spcBef>
                <a:spcPts val="0"/>
              </a:spcBef>
              <a:spcAft>
                <a:spcPts val="0"/>
              </a:spcAft>
              <a:buNone/>
            </a:pPr>
            <a:r>
              <a:rPr b="1" lang="en-US" sz="2200">
                <a:solidFill>
                  <a:srgbClr val="000000"/>
                </a:solidFill>
                <a:latin typeface="Calibri"/>
                <a:ea typeface="Calibri"/>
                <a:cs typeface="Calibri"/>
                <a:sym typeface="Calibri"/>
              </a:rPr>
              <a:t>Functional Requirements</a:t>
            </a:r>
            <a:r>
              <a:rPr lang="en-US" sz="2200">
                <a:solidFill>
                  <a:srgbClr val="000000"/>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200">
                <a:solidFill>
                  <a:srgbClr val="000000"/>
                </a:solidFill>
                <a:latin typeface="Calibri"/>
                <a:ea typeface="Calibri"/>
                <a:cs typeface="Calibri"/>
                <a:sym typeface="Calibri"/>
              </a:rPr>
              <a:t>"A requirement specifies a function that a system or component must be able to perform.“</a:t>
            </a:r>
            <a:endParaRPr sz="1800">
              <a:solidFill>
                <a:schemeClr val="dk1"/>
              </a:solidFill>
              <a:latin typeface="Calibri"/>
              <a:ea typeface="Calibri"/>
              <a:cs typeface="Calibri"/>
              <a:sym typeface="Calibri"/>
            </a:endParaRPr>
          </a:p>
          <a:p>
            <a:pPr indent="-139700" lvl="0" marL="0" marR="0" rtl="0" algn="l">
              <a:lnSpc>
                <a:spcPct val="100000"/>
              </a:lnSpc>
              <a:spcBef>
                <a:spcPts val="0"/>
              </a:spcBef>
              <a:spcAft>
                <a:spcPts val="0"/>
              </a:spcAft>
              <a:buClr>
                <a:srgbClr val="000000"/>
              </a:buClr>
              <a:buSzPts val="2200"/>
              <a:buFont typeface="Arial"/>
              <a:buChar char="•"/>
            </a:pPr>
            <a:r>
              <a:rPr lang="en-US" sz="2200">
                <a:solidFill>
                  <a:srgbClr val="000000"/>
                </a:solidFill>
                <a:latin typeface="Calibri"/>
                <a:ea typeface="Calibri"/>
                <a:cs typeface="Calibri"/>
                <a:sym typeface="Calibri"/>
              </a:rPr>
              <a:t> Specify </a:t>
            </a:r>
            <a:r>
              <a:rPr b="1" lang="en-US" sz="2200" u="sng">
                <a:solidFill>
                  <a:srgbClr val="000000"/>
                </a:solidFill>
                <a:latin typeface="Calibri"/>
                <a:ea typeface="Calibri"/>
                <a:cs typeface="Calibri"/>
                <a:sym typeface="Calibri"/>
              </a:rPr>
              <a:t>specific behavior or functions.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200">
                <a:solidFill>
                  <a:srgbClr val="000000"/>
                </a:solidFill>
                <a:latin typeface="Calibri"/>
                <a:ea typeface="Calibri"/>
                <a:cs typeface="Calibri"/>
                <a:sym typeface="Calibri"/>
              </a:rPr>
              <a:t> for example: "</a:t>
            </a:r>
            <a:r>
              <a:rPr i="1" lang="en-US" sz="2200">
                <a:solidFill>
                  <a:srgbClr val="000000"/>
                </a:solidFill>
                <a:latin typeface="Calibri"/>
                <a:ea typeface="Calibri"/>
                <a:cs typeface="Calibri"/>
                <a:sym typeface="Calibri"/>
              </a:rPr>
              <a:t>Display the heart rate, blood pressure and temperature of a patient connected to the patient monitor</a:t>
            </a:r>
            <a:r>
              <a:rPr lang="en-US" sz="2200">
                <a:solidFill>
                  <a:srgbClr val="000000"/>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9"/>
          <p:cNvSpPr txBox="1"/>
          <p:nvPr/>
        </p:nvSpPr>
        <p:spPr>
          <a:xfrm>
            <a:off x="457200" y="273600"/>
            <a:ext cx="8229240" cy="114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2200">
                <a:solidFill>
                  <a:srgbClr val="000000"/>
                </a:solidFill>
                <a:latin typeface="Calibri"/>
                <a:ea typeface="Calibri"/>
                <a:cs typeface="Calibri"/>
                <a:sym typeface="Calibri"/>
              </a:rPr>
              <a:t>Functional Requirements</a:t>
            </a:r>
            <a:r>
              <a:rPr lang="en-US" sz="2200">
                <a:solidFill>
                  <a:srgbClr val="000000"/>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206" name="Google Shape;206;p19"/>
          <p:cNvSpPr txBox="1"/>
          <p:nvPr/>
        </p:nvSpPr>
        <p:spPr>
          <a:xfrm>
            <a:off x="457200" y="1604520"/>
            <a:ext cx="8229240" cy="397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2800">
                <a:solidFill>
                  <a:srgbClr val="000000"/>
                </a:solidFill>
                <a:latin typeface="Calibri"/>
                <a:ea typeface="Calibri"/>
                <a:cs typeface="Calibri"/>
                <a:sym typeface="Calibri"/>
              </a:rPr>
              <a:t>Functional requirements are: </a:t>
            </a:r>
            <a:endParaRPr sz="1800">
              <a:solidFill>
                <a:schemeClr val="dk1"/>
              </a:solidFill>
              <a:latin typeface="Calibri"/>
              <a:ea typeface="Calibri"/>
              <a:cs typeface="Calibri"/>
              <a:sym typeface="Calibri"/>
            </a:endParaRPr>
          </a:p>
          <a:p>
            <a:pPr indent="-80010" lvl="0" marL="0" marR="0" rtl="0" algn="l">
              <a:lnSpc>
                <a:spcPct val="100000"/>
              </a:lnSpc>
              <a:spcBef>
                <a:spcPts val="0"/>
              </a:spcBef>
              <a:spcAft>
                <a:spcPts val="0"/>
              </a:spcAft>
              <a:buClr>
                <a:srgbClr val="000000"/>
              </a:buClr>
              <a:buSzPts val="1260"/>
              <a:buFont typeface="Noto Sans Symbols"/>
              <a:buChar char=""/>
            </a:pPr>
            <a:r>
              <a:rPr lang="en-US" sz="2800">
                <a:solidFill>
                  <a:srgbClr val="000000"/>
                </a:solidFill>
                <a:latin typeface="Calibri"/>
                <a:ea typeface="Calibri"/>
                <a:cs typeface="Calibri"/>
                <a:sym typeface="Calibri"/>
              </a:rPr>
              <a:t>Business Rules </a:t>
            </a:r>
            <a:endParaRPr sz="1800">
              <a:solidFill>
                <a:schemeClr val="dk1"/>
              </a:solidFill>
              <a:latin typeface="Calibri"/>
              <a:ea typeface="Calibri"/>
              <a:cs typeface="Calibri"/>
              <a:sym typeface="Calibri"/>
            </a:endParaRPr>
          </a:p>
          <a:p>
            <a:pPr indent="-80010" lvl="0" marL="0" marR="0" rtl="0" algn="l">
              <a:lnSpc>
                <a:spcPct val="100000"/>
              </a:lnSpc>
              <a:spcBef>
                <a:spcPts val="0"/>
              </a:spcBef>
              <a:spcAft>
                <a:spcPts val="0"/>
              </a:spcAft>
              <a:buClr>
                <a:srgbClr val="000000"/>
              </a:buClr>
              <a:buSzPts val="1260"/>
              <a:buFont typeface="Noto Sans Symbols"/>
              <a:buChar char=""/>
            </a:pPr>
            <a:r>
              <a:rPr lang="en-US" sz="2800">
                <a:solidFill>
                  <a:srgbClr val="000000"/>
                </a:solidFill>
                <a:latin typeface="Calibri"/>
                <a:ea typeface="Calibri"/>
                <a:cs typeface="Calibri"/>
                <a:sym typeface="Calibri"/>
              </a:rPr>
              <a:t>Transaction corrections, </a:t>
            </a:r>
            <a:endParaRPr sz="1800">
              <a:solidFill>
                <a:schemeClr val="dk1"/>
              </a:solidFill>
              <a:latin typeface="Calibri"/>
              <a:ea typeface="Calibri"/>
              <a:cs typeface="Calibri"/>
              <a:sym typeface="Calibri"/>
            </a:endParaRPr>
          </a:p>
          <a:p>
            <a:pPr indent="-80010" lvl="0" marL="0" marR="0" rtl="0" algn="l">
              <a:lnSpc>
                <a:spcPct val="100000"/>
              </a:lnSpc>
              <a:spcBef>
                <a:spcPts val="0"/>
              </a:spcBef>
              <a:spcAft>
                <a:spcPts val="0"/>
              </a:spcAft>
              <a:buClr>
                <a:srgbClr val="000000"/>
              </a:buClr>
              <a:buSzPts val="1260"/>
              <a:buFont typeface="Noto Sans Symbols"/>
              <a:buChar char=""/>
            </a:pPr>
            <a:r>
              <a:rPr lang="en-US" sz="2800">
                <a:solidFill>
                  <a:srgbClr val="000000"/>
                </a:solidFill>
                <a:latin typeface="Calibri"/>
                <a:ea typeface="Calibri"/>
                <a:cs typeface="Calibri"/>
                <a:sym typeface="Calibri"/>
              </a:rPr>
              <a:t> Administrative functions</a:t>
            </a:r>
            <a:endParaRPr sz="1800">
              <a:solidFill>
                <a:schemeClr val="dk1"/>
              </a:solidFill>
              <a:latin typeface="Calibri"/>
              <a:ea typeface="Calibri"/>
              <a:cs typeface="Calibri"/>
              <a:sym typeface="Calibri"/>
            </a:endParaRPr>
          </a:p>
          <a:p>
            <a:pPr indent="-80010" lvl="0" marL="0" marR="0" rtl="0" algn="l">
              <a:lnSpc>
                <a:spcPct val="100000"/>
              </a:lnSpc>
              <a:spcBef>
                <a:spcPts val="0"/>
              </a:spcBef>
              <a:spcAft>
                <a:spcPts val="0"/>
              </a:spcAft>
              <a:buClr>
                <a:srgbClr val="000000"/>
              </a:buClr>
              <a:buSzPts val="1260"/>
              <a:buFont typeface="Noto Sans Symbols"/>
              <a:buChar char=""/>
            </a:pPr>
            <a:r>
              <a:rPr lang="en-US" sz="2800">
                <a:solidFill>
                  <a:srgbClr val="000000"/>
                </a:solidFill>
                <a:latin typeface="Calibri"/>
                <a:ea typeface="Calibri"/>
                <a:cs typeface="Calibri"/>
                <a:sym typeface="Calibri"/>
              </a:rPr>
              <a:t> Authentication </a:t>
            </a:r>
            <a:endParaRPr sz="1800">
              <a:solidFill>
                <a:schemeClr val="dk1"/>
              </a:solidFill>
              <a:latin typeface="Calibri"/>
              <a:ea typeface="Calibri"/>
              <a:cs typeface="Calibri"/>
              <a:sym typeface="Calibri"/>
            </a:endParaRPr>
          </a:p>
          <a:p>
            <a:pPr indent="-80010" lvl="0" marL="0" marR="0" rtl="0" algn="l">
              <a:lnSpc>
                <a:spcPct val="100000"/>
              </a:lnSpc>
              <a:spcBef>
                <a:spcPts val="0"/>
              </a:spcBef>
              <a:spcAft>
                <a:spcPts val="0"/>
              </a:spcAft>
              <a:buClr>
                <a:srgbClr val="000000"/>
              </a:buClr>
              <a:buSzPts val="1260"/>
              <a:buFont typeface="Noto Sans Symbols"/>
              <a:buChar char=""/>
            </a:pPr>
            <a:r>
              <a:rPr lang="en-US" sz="2800">
                <a:solidFill>
                  <a:srgbClr val="000000"/>
                </a:solidFill>
                <a:latin typeface="Calibri"/>
                <a:ea typeface="Calibri"/>
                <a:cs typeface="Calibri"/>
                <a:sym typeface="Calibri"/>
              </a:rPr>
              <a:t>Authorization </a:t>
            </a:r>
            <a:endParaRPr sz="1800">
              <a:solidFill>
                <a:schemeClr val="dk1"/>
              </a:solidFill>
              <a:latin typeface="Calibri"/>
              <a:ea typeface="Calibri"/>
              <a:cs typeface="Calibri"/>
              <a:sym typeface="Calibri"/>
            </a:endParaRPr>
          </a:p>
          <a:p>
            <a:pPr indent="-80010" lvl="0" marL="0" marR="0" rtl="0" algn="l">
              <a:lnSpc>
                <a:spcPct val="100000"/>
              </a:lnSpc>
              <a:spcBef>
                <a:spcPts val="0"/>
              </a:spcBef>
              <a:spcAft>
                <a:spcPts val="0"/>
              </a:spcAft>
              <a:buClr>
                <a:srgbClr val="000000"/>
              </a:buClr>
              <a:buSzPts val="1260"/>
              <a:buFont typeface="Noto Sans Symbols"/>
              <a:buChar char=""/>
            </a:pPr>
            <a:r>
              <a:rPr lang="en-US" sz="2800">
                <a:solidFill>
                  <a:srgbClr val="000000"/>
                </a:solidFill>
                <a:latin typeface="Calibri"/>
                <a:ea typeface="Calibri"/>
                <a:cs typeface="Calibri"/>
                <a:sym typeface="Calibri"/>
              </a:rPr>
              <a:t> Audit Tracking </a:t>
            </a:r>
            <a:endParaRPr sz="1800">
              <a:solidFill>
                <a:schemeClr val="dk1"/>
              </a:solidFill>
              <a:latin typeface="Calibri"/>
              <a:ea typeface="Calibri"/>
              <a:cs typeface="Calibri"/>
              <a:sym typeface="Calibri"/>
            </a:endParaRPr>
          </a:p>
          <a:p>
            <a:pPr indent="-80010" lvl="0" marL="0" marR="0" rtl="0" algn="l">
              <a:lnSpc>
                <a:spcPct val="100000"/>
              </a:lnSpc>
              <a:spcBef>
                <a:spcPts val="0"/>
              </a:spcBef>
              <a:spcAft>
                <a:spcPts val="0"/>
              </a:spcAft>
              <a:buClr>
                <a:srgbClr val="000000"/>
              </a:buClr>
              <a:buSzPts val="1260"/>
              <a:buFont typeface="Noto Sans Symbols"/>
              <a:buChar char=""/>
            </a:pPr>
            <a:r>
              <a:rPr lang="en-US" sz="2800">
                <a:solidFill>
                  <a:srgbClr val="000000"/>
                </a:solidFill>
                <a:latin typeface="Calibri"/>
                <a:ea typeface="Calibri"/>
                <a:cs typeface="Calibri"/>
                <a:sym typeface="Calibri"/>
              </a:rPr>
              <a:t>External Interfaces </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p:nvPr/>
        </p:nvSpPr>
        <p:spPr>
          <a:xfrm>
            <a:off x="457200" y="274680"/>
            <a:ext cx="7291440" cy="11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0"/>
          <p:cNvSpPr/>
          <p:nvPr/>
        </p:nvSpPr>
        <p:spPr>
          <a:xfrm>
            <a:off x="274320" y="1554480"/>
            <a:ext cx="8409960" cy="5119200"/>
          </a:xfrm>
          <a:prstGeom prst="rect">
            <a:avLst/>
          </a:prstGeom>
          <a:noFill/>
          <a:ln>
            <a:noFill/>
          </a:ln>
        </p:spPr>
        <p:txBody>
          <a:bodyPr anchorCtr="1" anchor="t" bIns="45000" lIns="90000" spcFirstLastPara="1" rIns="90000" wrap="square" tIns="450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800">
                <a:solidFill>
                  <a:schemeClr val="dk1"/>
                </a:solidFill>
                <a:latin typeface="Arial"/>
                <a:ea typeface="Arial"/>
                <a:cs typeface="Arial"/>
                <a:sym typeface="Arial"/>
              </a:rPr>
              <a:t>Descriptions of data to be entered into the system</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800">
                <a:solidFill>
                  <a:schemeClr val="dk1"/>
                </a:solidFill>
                <a:latin typeface="Arial"/>
                <a:ea typeface="Arial"/>
                <a:cs typeface="Arial"/>
                <a:sym typeface="Arial"/>
              </a:rPr>
              <a:t>Descriptions of operations performed by each screen</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800">
                <a:solidFill>
                  <a:schemeClr val="dk1"/>
                </a:solidFill>
                <a:latin typeface="Arial"/>
                <a:ea typeface="Arial"/>
                <a:cs typeface="Arial"/>
                <a:sym typeface="Arial"/>
              </a:rPr>
              <a:t>Descriptions of work-flows performed by the system</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800">
                <a:solidFill>
                  <a:schemeClr val="dk1"/>
                </a:solidFill>
                <a:latin typeface="Arial"/>
                <a:ea typeface="Arial"/>
                <a:cs typeface="Arial"/>
                <a:sym typeface="Arial"/>
              </a:rPr>
              <a:t>Descriptions of system reports or other outputs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800">
                <a:solidFill>
                  <a:schemeClr val="dk1"/>
                </a:solidFill>
                <a:latin typeface="Arial"/>
                <a:ea typeface="Arial"/>
                <a:cs typeface="Arial"/>
                <a:sym typeface="Arial"/>
              </a:rPr>
              <a:t>Who can enter the data into the system</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800">
                <a:solidFill>
                  <a:schemeClr val="dk1"/>
                </a:solidFill>
                <a:latin typeface="Arial"/>
                <a:ea typeface="Arial"/>
                <a:cs typeface="Arial"/>
                <a:sym typeface="Arial"/>
              </a:rPr>
              <a:t>How the system meets applicable regulatory requirements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20"/>
          <p:cNvSpPr/>
          <p:nvPr/>
        </p:nvSpPr>
        <p:spPr>
          <a:xfrm>
            <a:off x="182880" y="274320"/>
            <a:ext cx="7282440" cy="1187640"/>
          </a:xfrm>
          <a:prstGeom prst="rect">
            <a:avLst/>
          </a:prstGeom>
          <a:noFill/>
          <a:ln>
            <a:noFill/>
          </a:ln>
        </p:spPr>
        <p:txBody>
          <a:bodyPr anchorCtr="1" anchor="t" bIns="45000" lIns="90000" spcFirstLastPara="1" rIns="90000" wrap="square" tIns="45000">
            <a:noAutofit/>
          </a:bodyPr>
          <a:lstStyle/>
          <a:p>
            <a:pPr indent="0" lvl="0" marL="0" marR="0" rtl="0" algn="l">
              <a:spcBef>
                <a:spcPts val="0"/>
              </a:spcBef>
              <a:spcAft>
                <a:spcPts val="0"/>
              </a:spcAft>
              <a:buNone/>
            </a:pPr>
            <a:r>
              <a:rPr lang="en-US" sz="3200">
                <a:solidFill>
                  <a:schemeClr val="dk1"/>
                </a:solidFill>
                <a:latin typeface="Arial"/>
                <a:ea typeface="Arial"/>
                <a:cs typeface="Arial"/>
                <a:sym typeface="Arial"/>
              </a:rPr>
              <a:t>Functional Requirements should include:</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p:nvPr/>
        </p:nvSpPr>
        <p:spPr>
          <a:xfrm>
            <a:off x="457200" y="274680"/>
            <a:ext cx="7291440" cy="11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1"/>
          <p:cNvSpPr/>
          <p:nvPr/>
        </p:nvSpPr>
        <p:spPr>
          <a:xfrm>
            <a:off x="457200" y="182880"/>
            <a:ext cx="6399360" cy="912960"/>
          </a:xfrm>
          <a:prstGeom prst="rect">
            <a:avLst/>
          </a:prstGeom>
          <a:noFill/>
          <a:ln>
            <a:noFill/>
          </a:ln>
        </p:spPr>
        <p:txBody>
          <a:bodyPr anchorCtr="1" anchor="t" bIns="45000" lIns="90000" spcFirstLastPara="1" rIns="90000" wrap="square" tIns="45000">
            <a:noAutofit/>
          </a:bodyPr>
          <a:lstStyle/>
          <a:p>
            <a:pPr indent="0" lvl="0" marL="0" marR="0" rtl="0" algn="l">
              <a:spcBef>
                <a:spcPts val="0"/>
              </a:spcBef>
              <a:spcAft>
                <a:spcPts val="0"/>
              </a:spcAft>
              <a:buNone/>
            </a:pPr>
            <a:r>
              <a:rPr b="1" lang="en-US" sz="2200">
                <a:solidFill>
                  <a:schemeClr val="dk1"/>
                </a:solidFill>
                <a:latin typeface="Arial"/>
                <a:ea typeface="Arial"/>
                <a:cs typeface="Arial"/>
                <a:sym typeface="Arial"/>
              </a:rPr>
              <a:t>Examples of Functional Requirements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21"/>
          <p:cNvSpPr/>
          <p:nvPr/>
        </p:nvSpPr>
        <p:spPr>
          <a:xfrm>
            <a:off x="457200" y="1559160"/>
            <a:ext cx="8227800" cy="4657320"/>
          </a:xfrm>
          <a:prstGeom prst="rect">
            <a:avLst/>
          </a:prstGeom>
          <a:noFill/>
          <a:ln>
            <a:noFill/>
          </a:ln>
        </p:spPr>
        <p:txBody>
          <a:bodyPr anchorCtr="1" anchor="t" bIns="45000" lIns="90000" spcFirstLastPara="1" rIns="90000" wrap="square" tIns="45000">
            <a:noAutofit/>
          </a:bodyPr>
          <a:lstStyle/>
          <a:p>
            <a:pPr indent="0" lvl="0" marL="0" marR="0" rtl="0" algn="l">
              <a:spcBef>
                <a:spcPts val="0"/>
              </a:spcBef>
              <a:spcAft>
                <a:spcPts val="0"/>
              </a:spcAft>
              <a:buNone/>
            </a:pPr>
            <a:r>
              <a:rPr b="1" lang="en-US" sz="2200">
                <a:solidFill>
                  <a:schemeClr val="dk1"/>
                </a:solidFill>
                <a:latin typeface="Arial"/>
                <a:ea typeface="Arial"/>
                <a:cs typeface="Arial"/>
                <a:sym typeface="Arial"/>
              </a:rPr>
              <a:t>Interface requirements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Field 1 accepts numeric data entry.</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Field 2 only accepts dates before the current date.</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Screen 1 can print on-screen data to the printer.</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2000">
                <a:solidFill>
                  <a:schemeClr val="dk1"/>
                </a:solidFill>
                <a:latin typeface="Arial"/>
                <a:ea typeface="Arial"/>
                <a:cs typeface="Arial"/>
                <a:sym typeface="Arial"/>
              </a:rPr>
              <a:t>Business Requirements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Data must be entered before a request can be approved.</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Clicking the Approve button moves the request to the Approval Work flow</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All personnel using the system will be trained according to internal SOP AA-101.</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2200">
                <a:solidFill>
                  <a:schemeClr val="dk1"/>
                </a:solidFill>
                <a:latin typeface="Arial"/>
                <a:ea typeface="Arial"/>
                <a:cs typeface="Arial"/>
                <a:sym typeface="Arial"/>
              </a:rPr>
              <a:t>Regulatory/Compliance Requirements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The database will have a functional audit trail.</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The system will limit access to authorized users.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The spreadsheet can secure data with electronic signatures.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2"/>
          <p:cNvSpPr/>
          <p:nvPr/>
        </p:nvSpPr>
        <p:spPr>
          <a:xfrm>
            <a:off x="457200" y="273600"/>
            <a:ext cx="8228880" cy="1144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2800">
                <a:solidFill>
                  <a:schemeClr val="dk1"/>
                </a:solidFill>
                <a:latin typeface="Arial"/>
                <a:ea typeface="Arial"/>
                <a:cs typeface="Arial"/>
                <a:sym typeface="Arial"/>
              </a:rPr>
              <a:t>Functional requirements:-</a:t>
            </a:r>
            <a:endParaRPr sz="1800">
              <a:solidFill>
                <a:schemeClr val="dk1"/>
              </a:solidFill>
              <a:latin typeface="Calibri"/>
              <a:ea typeface="Calibri"/>
              <a:cs typeface="Calibri"/>
              <a:sym typeface="Calibri"/>
            </a:endParaRPr>
          </a:p>
        </p:txBody>
      </p:sp>
      <p:sp>
        <p:nvSpPr>
          <p:cNvPr id="226" name="Google Shape;226;p22"/>
          <p:cNvSpPr/>
          <p:nvPr/>
        </p:nvSpPr>
        <p:spPr>
          <a:xfrm>
            <a:off x="457200" y="1604520"/>
            <a:ext cx="8503560" cy="4795920"/>
          </a:xfrm>
          <a:prstGeom prst="rect">
            <a:avLst/>
          </a:prstGeom>
          <a:noFill/>
          <a:ln>
            <a:noFill/>
          </a:ln>
        </p:spPr>
        <p:txBody>
          <a:bodyPr anchorCtr="0" anchor="ctr" bIns="0" lIns="0" spcFirstLastPara="1" rIns="0" wrap="square" tIns="0">
            <a:noAutofit/>
          </a:bodyPr>
          <a:lstStyle/>
          <a:p>
            <a:pPr indent="-57150" lvl="0" marL="0" marR="0" rtl="0" algn="l">
              <a:lnSpc>
                <a:spcPct val="100000"/>
              </a:lnSpc>
              <a:spcBef>
                <a:spcPts val="0"/>
              </a:spcBef>
              <a:spcAft>
                <a:spcPts val="0"/>
              </a:spcAft>
              <a:buClr>
                <a:schemeClr val="dk1"/>
              </a:buClr>
              <a:buSzPts val="900"/>
              <a:buFont typeface="Noto Sans Symbols"/>
              <a:buChar char="l"/>
            </a:pPr>
            <a:r>
              <a:rPr lang="en-US" sz="2000">
                <a:solidFill>
                  <a:schemeClr val="dk1"/>
                </a:solidFill>
                <a:latin typeface="Arial"/>
                <a:ea typeface="Arial"/>
                <a:cs typeface="Arial"/>
                <a:sym typeface="Arial"/>
              </a:rPr>
              <a:t>The functional requirements part discusses the functionalities required</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from the system.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chemeClr val="dk1"/>
              </a:buClr>
              <a:buSzPts val="900"/>
              <a:buFont typeface="Noto Sans Symbols"/>
              <a:buChar char="l"/>
            </a:pPr>
            <a:r>
              <a:rPr lang="en-US" sz="2000">
                <a:solidFill>
                  <a:schemeClr val="dk1"/>
                </a:solidFill>
                <a:latin typeface="Arial"/>
                <a:ea typeface="Arial"/>
                <a:cs typeface="Arial"/>
                <a:sym typeface="Arial"/>
              </a:rPr>
              <a:t>The system is considered to perform a set of high-</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level functions {f </a:t>
            </a:r>
            <a:r>
              <a:rPr baseline="-25000" lang="en-US" sz="2000">
                <a:solidFill>
                  <a:schemeClr val="dk1"/>
                </a:solidFill>
                <a:latin typeface="Arial"/>
                <a:ea typeface="Arial"/>
                <a:cs typeface="Arial"/>
                <a:sym typeface="Arial"/>
              </a:rPr>
              <a:t>i</a:t>
            </a:r>
            <a:r>
              <a:rPr lang="en-US" sz="2000">
                <a:solidFill>
                  <a:schemeClr val="dk1"/>
                </a:solidFill>
                <a:latin typeface="Arial"/>
                <a:ea typeface="Arial"/>
                <a:cs typeface="Arial"/>
                <a:sym typeface="Arial"/>
              </a:rPr>
              <a:t> }.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chemeClr val="dk1"/>
              </a:buClr>
              <a:buSzPts val="900"/>
              <a:buFont typeface="Noto Sans Symbols"/>
              <a:buChar char="l"/>
            </a:pPr>
            <a:r>
              <a:rPr lang="en-US" sz="2000">
                <a:solidFill>
                  <a:schemeClr val="dk1"/>
                </a:solidFill>
                <a:latin typeface="Arial"/>
                <a:ea typeface="Arial"/>
                <a:cs typeface="Arial"/>
                <a:sym typeface="Arial"/>
              </a:rPr>
              <a:t>The functional view of the system is shown in fig. 1.</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chemeClr val="dk1"/>
              </a:buClr>
              <a:buSzPts val="900"/>
              <a:buFont typeface="Noto Sans Symbols"/>
              <a:buChar char="l"/>
            </a:pPr>
            <a:r>
              <a:rPr lang="en-US" sz="2000">
                <a:solidFill>
                  <a:schemeClr val="dk1"/>
                </a:solidFill>
                <a:latin typeface="Arial"/>
                <a:ea typeface="Arial"/>
                <a:cs typeface="Arial"/>
                <a:sym typeface="Arial"/>
              </a:rPr>
              <a:t>Each function f </a:t>
            </a:r>
            <a:r>
              <a:rPr baseline="-25000" lang="en-US" sz="2000">
                <a:solidFill>
                  <a:schemeClr val="dk1"/>
                </a:solidFill>
                <a:latin typeface="Arial"/>
                <a:ea typeface="Arial"/>
                <a:cs typeface="Arial"/>
                <a:sym typeface="Arial"/>
              </a:rPr>
              <a:t>i</a:t>
            </a:r>
            <a:r>
              <a:rPr lang="en-US" sz="2000">
                <a:solidFill>
                  <a:schemeClr val="dk1"/>
                </a:solidFill>
                <a:latin typeface="Arial"/>
                <a:ea typeface="Arial"/>
                <a:cs typeface="Arial"/>
                <a:sym typeface="Arial"/>
              </a:rPr>
              <a:t> of the system can be considered as a transformation of a set of input data (ii) to the corresponding set of output data (o </a:t>
            </a:r>
            <a:r>
              <a:rPr baseline="-25000" lang="en-US" sz="2000">
                <a:solidFill>
                  <a:schemeClr val="dk1"/>
                </a:solidFill>
                <a:latin typeface="Arial"/>
                <a:ea typeface="Arial"/>
                <a:cs typeface="Arial"/>
                <a:sym typeface="Arial"/>
              </a:rPr>
              <a:t>i</a:t>
            </a:r>
            <a:r>
              <a:rPr lang="en-US" sz="2000">
                <a:solidFill>
                  <a:schemeClr val="dk1"/>
                </a:solidFill>
                <a:latin typeface="Arial"/>
                <a:ea typeface="Arial"/>
                <a:cs typeface="Arial"/>
                <a:sym typeface="Arial"/>
              </a:rPr>
              <a:t> ).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chemeClr val="dk1"/>
              </a:buClr>
              <a:buSzPts val="900"/>
              <a:buFont typeface="Noto Sans Symbols"/>
              <a:buChar char="l"/>
            </a:pPr>
            <a:r>
              <a:rPr lang="en-US" sz="2000">
                <a:solidFill>
                  <a:schemeClr val="dk1"/>
                </a:solidFill>
                <a:latin typeface="Arial"/>
                <a:ea typeface="Arial"/>
                <a:cs typeface="Arial"/>
                <a:sym typeface="Arial"/>
              </a:rPr>
              <a:t>The user can get some meaningful piece of work done using a high-level function.</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227" name="Google Shape;227;p22"/>
          <p:cNvGraphicFramePr/>
          <p:nvPr/>
        </p:nvGraphicFramePr>
        <p:xfrm>
          <a:off x="3675240" y="5584320"/>
          <a:ext cx="3000000" cy="3000000"/>
        </p:xfrm>
        <a:graphic>
          <a:graphicData uri="http://schemas.openxmlformats.org/drawingml/2006/table">
            <a:tbl>
              <a:tblPr>
                <a:noFill/>
                <a:tableStyleId>{FA417998-51A4-4FD3-8344-115FCE8B26E9}</a:tableStyleId>
              </a:tblPr>
              <a:tblGrid>
                <a:gridCol w="1344250"/>
              </a:tblGrid>
              <a:tr h="1056600">
                <a:tc>
                  <a:txBody>
                    <a:bodyPr/>
                    <a:lstStyle/>
                    <a:p>
                      <a:pPr indent="0" lvl="0" marL="0" marR="0" rtl="0" algn="l">
                        <a:spcBef>
                          <a:spcPts val="0"/>
                        </a:spcBef>
                        <a:spcAft>
                          <a:spcPts val="0"/>
                        </a:spcAft>
                        <a:buNone/>
                      </a:pPr>
                      <a:r>
                        <a:rPr lang="en-US" sz="4400">
                          <a:latin typeface="Arial"/>
                          <a:ea typeface="Arial"/>
                          <a:cs typeface="Arial"/>
                          <a:sym typeface="Arial"/>
                        </a:rPr>
                        <a:t>f </a:t>
                      </a:r>
                      <a:r>
                        <a:rPr baseline="-25000" lang="en-US" sz="4400">
                          <a:latin typeface="Arial"/>
                          <a:ea typeface="Arial"/>
                          <a:cs typeface="Arial"/>
                          <a:sym typeface="Arial"/>
                        </a:rPr>
                        <a:t>i</a:t>
                      </a:r>
                      <a:endParaRPr sz="1800"/>
                    </a:p>
                  </a:txBody>
                  <a:tcPr marT="45725" marB="45725" marR="91450" marL="91450"/>
                </a:tc>
              </a:tr>
            </a:tbl>
          </a:graphicData>
        </a:graphic>
      </p:graphicFrame>
      <p:cxnSp>
        <p:nvCxnSpPr>
          <p:cNvPr id="228" name="Google Shape;228;p22"/>
          <p:cNvCxnSpPr/>
          <p:nvPr/>
        </p:nvCxnSpPr>
        <p:spPr>
          <a:xfrm>
            <a:off x="1920240" y="5760720"/>
            <a:ext cx="1645920" cy="0"/>
          </a:xfrm>
          <a:prstGeom prst="straightConnector1">
            <a:avLst/>
          </a:prstGeom>
          <a:noFill/>
          <a:ln cap="flat" cmpd="sng" w="9525">
            <a:solidFill>
              <a:srgbClr val="000000"/>
            </a:solidFill>
            <a:prstDash val="solid"/>
            <a:round/>
            <a:headEnd len="sm" w="sm" type="none"/>
            <a:tailEnd len="med" w="med" type="triangle"/>
          </a:ln>
        </p:spPr>
      </p:cxnSp>
      <p:cxnSp>
        <p:nvCxnSpPr>
          <p:cNvPr id="229" name="Google Shape;229;p22"/>
          <p:cNvCxnSpPr/>
          <p:nvPr/>
        </p:nvCxnSpPr>
        <p:spPr>
          <a:xfrm>
            <a:off x="1920240" y="5943600"/>
            <a:ext cx="1645920" cy="0"/>
          </a:xfrm>
          <a:prstGeom prst="straightConnector1">
            <a:avLst/>
          </a:prstGeom>
          <a:noFill/>
          <a:ln cap="flat" cmpd="sng" w="9525">
            <a:solidFill>
              <a:srgbClr val="000000"/>
            </a:solidFill>
            <a:prstDash val="solid"/>
            <a:round/>
            <a:headEnd len="sm" w="sm" type="none"/>
            <a:tailEnd len="med" w="med" type="triangle"/>
          </a:ln>
        </p:spPr>
      </p:cxnSp>
      <p:cxnSp>
        <p:nvCxnSpPr>
          <p:cNvPr id="230" name="Google Shape;230;p22"/>
          <p:cNvCxnSpPr/>
          <p:nvPr/>
        </p:nvCxnSpPr>
        <p:spPr>
          <a:xfrm>
            <a:off x="2148845" y="6309345"/>
            <a:ext cx="1463100" cy="0"/>
          </a:xfrm>
          <a:prstGeom prst="straightConnector1">
            <a:avLst/>
          </a:prstGeom>
          <a:noFill/>
          <a:ln cap="flat" cmpd="sng" w="9525">
            <a:solidFill>
              <a:srgbClr val="000000"/>
            </a:solidFill>
            <a:prstDash val="solid"/>
            <a:round/>
            <a:headEnd len="sm" w="sm" type="none"/>
            <a:tailEnd len="med" w="med" type="triangle"/>
          </a:ln>
        </p:spPr>
      </p:cxnSp>
      <p:cxnSp>
        <p:nvCxnSpPr>
          <p:cNvPr id="231" name="Google Shape;231;p22"/>
          <p:cNvCxnSpPr/>
          <p:nvPr/>
        </p:nvCxnSpPr>
        <p:spPr>
          <a:xfrm>
            <a:off x="2103120" y="6400800"/>
            <a:ext cx="1554480" cy="0"/>
          </a:xfrm>
          <a:prstGeom prst="straightConnector1">
            <a:avLst/>
          </a:prstGeom>
          <a:noFill/>
          <a:ln cap="flat" cmpd="sng" w="9525">
            <a:solidFill>
              <a:srgbClr val="000000"/>
            </a:solidFill>
            <a:prstDash val="solid"/>
            <a:round/>
            <a:headEnd len="sm" w="sm" type="none"/>
            <a:tailEnd len="med" w="med" type="triangle"/>
          </a:ln>
        </p:spPr>
      </p:cxnSp>
      <p:cxnSp>
        <p:nvCxnSpPr>
          <p:cNvPr id="232" name="Google Shape;232;p22"/>
          <p:cNvCxnSpPr/>
          <p:nvPr/>
        </p:nvCxnSpPr>
        <p:spPr>
          <a:xfrm>
            <a:off x="4910760" y="5943600"/>
            <a:ext cx="941400" cy="0"/>
          </a:xfrm>
          <a:prstGeom prst="straightConnector1">
            <a:avLst/>
          </a:prstGeom>
          <a:noFill/>
          <a:ln cap="flat" cmpd="sng" w="9525">
            <a:solidFill>
              <a:srgbClr val="000000"/>
            </a:solidFill>
            <a:prstDash val="solid"/>
            <a:round/>
            <a:headEnd len="sm" w="sm" type="none"/>
            <a:tailEnd len="med" w="med" type="triangle"/>
          </a:ln>
        </p:spPr>
      </p:cxnSp>
      <p:cxnSp>
        <p:nvCxnSpPr>
          <p:cNvPr id="233" name="Google Shape;233;p22"/>
          <p:cNvCxnSpPr/>
          <p:nvPr/>
        </p:nvCxnSpPr>
        <p:spPr>
          <a:xfrm>
            <a:off x="4910760" y="6126480"/>
            <a:ext cx="1032840" cy="0"/>
          </a:xfrm>
          <a:prstGeom prst="straightConnector1">
            <a:avLst/>
          </a:prstGeom>
          <a:noFill/>
          <a:ln cap="flat" cmpd="sng" w="9525">
            <a:solidFill>
              <a:srgbClr val="000000"/>
            </a:solidFill>
            <a:prstDash val="solid"/>
            <a:round/>
            <a:headEnd len="sm" w="sm" type="none"/>
            <a:tailEnd len="med" w="med" type="triangle"/>
          </a:ln>
        </p:spPr>
      </p:cxnSp>
      <p:cxnSp>
        <p:nvCxnSpPr>
          <p:cNvPr id="234" name="Google Shape;234;p22"/>
          <p:cNvCxnSpPr/>
          <p:nvPr/>
        </p:nvCxnSpPr>
        <p:spPr>
          <a:xfrm>
            <a:off x="4910760" y="6309360"/>
            <a:ext cx="1032840" cy="0"/>
          </a:xfrm>
          <a:prstGeom prst="straightConnector1">
            <a:avLst/>
          </a:prstGeom>
          <a:noFill/>
          <a:ln cap="flat" cmpd="sng" w="9525">
            <a:solidFill>
              <a:srgbClr val="000000"/>
            </a:solidFill>
            <a:prstDash val="solid"/>
            <a:round/>
            <a:headEnd len="sm" w="sm" type="none"/>
            <a:tailEnd len="med" w="med" type="triangle"/>
          </a:ln>
        </p:spPr>
      </p:cxnSp>
      <p:sp>
        <p:nvSpPr>
          <p:cNvPr id="235" name="Google Shape;235;p22"/>
          <p:cNvSpPr/>
          <p:nvPr/>
        </p:nvSpPr>
        <p:spPr>
          <a:xfrm>
            <a:off x="2103120" y="5486400"/>
            <a:ext cx="548280" cy="27396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en-US" sz="1800">
                <a:solidFill>
                  <a:schemeClr val="dk1"/>
                </a:solidFill>
                <a:latin typeface="Arial"/>
                <a:ea typeface="Arial"/>
                <a:cs typeface="Arial"/>
                <a:sym typeface="Arial"/>
              </a:rPr>
              <a:t>i</a:t>
            </a:r>
            <a:r>
              <a:rPr baseline="-25000" lang="en-US" sz="1800">
                <a:solidFill>
                  <a:schemeClr val="dk1"/>
                </a:solidFill>
                <a:latin typeface="Arial"/>
                <a:ea typeface="Arial"/>
                <a:cs typeface="Arial"/>
                <a:sym typeface="Arial"/>
              </a:rPr>
              <a:t>1</a:t>
            </a:r>
            <a:endParaRPr sz="1800">
              <a:solidFill>
                <a:schemeClr val="dk1"/>
              </a:solidFill>
              <a:latin typeface="Calibri"/>
              <a:ea typeface="Calibri"/>
              <a:cs typeface="Calibri"/>
              <a:sym typeface="Calibri"/>
            </a:endParaRPr>
          </a:p>
        </p:txBody>
      </p:sp>
      <p:sp>
        <p:nvSpPr>
          <p:cNvPr id="236" name="Google Shape;236;p22"/>
          <p:cNvSpPr/>
          <p:nvPr/>
        </p:nvSpPr>
        <p:spPr>
          <a:xfrm>
            <a:off x="2103120" y="5760720"/>
            <a:ext cx="456840" cy="18252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en-US" sz="1800">
                <a:solidFill>
                  <a:schemeClr val="dk1"/>
                </a:solidFill>
                <a:latin typeface="Arial"/>
                <a:ea typeface="Arial"/>
                <a:cs typeface="Arial"/>
                <a:sym typeface="Arial"/>
              </a:rPr>
              <a:t>i</a:t>
            </a:r>
            <a:r>
              <a:rPr baseline="-25000" lang="en-US" sz="1800">
                <a:solidFill>
                  <a:schemeClr val="dk1"/>
                </a:solidFill>
                <a:latin typeface="Arial"/>
                <a:ea typeface="Arial"/>
                <a:cs typeface="Arial"/>
                <a:sym typeface="Arial"/>
              </a:rPr>
              <a:t>2</a:t>
            </a:r>
            <a:endParaRPr sz="1800">
              <a:solidFill>
                <a:schemeClr val="dk1"/>
              </a:solidFill>
              <a:latin typeface="Calibri"/>
              <a:ea typeface="Calibri"/>
              <a:cs typeface="Calibri"/>
              <a:sym typeface="Calibri"/>
            </a:endParaRPr>
          </a:p>
        </p:txBody>
      </p:sp>
      <p:sp>
        <p:nvSpPr>
          <p:cNvPr id="237" name="Google Shape;237;p22"/>
          <p:cNvSpPr/>
          <p:nvPr/>
        </p:nvSpPr>
        <p:spPr>
          <a:xfrm>
            <a:off x="2103120" y="6035040"/>
            <a:ext cx="456840" cy="18252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en-US" sz="1800">
                <a:solidFill>
                  <a:schemeClr val="dk1"/>
                </a:solidFill>
                <a:latin typeface="Arial"/>
                <a:ea typeface="Arial"/>
                <a:cs typeface="Arial"/>
                <a:sym typeface="Arial"/>
              </a:rPr>
              <a:t>i</a:t>
            </a:r>
            <a:r>
              <a:rPr baseline="-25000" lang="en-US" sz="1800">
                <a:solidFill>
                  <a:schemeClr val="dk1"/>
                </a:solidFill>
                <a:latin typeface="Arial"/>
                <a:ea typeface="Arial"/>
                <a:cs typeface="Arial"/>
                <a:sym typeface="Arial"/>
              </a:rPr>
              <a:t>3</a:t>
            </a:r>
            <a:endParaRPr sz="1800">
              <a:solidFill>
                <a:schemeClr val="dk1"/>
              </a:solidFill>
              <a:latin typeface="Calibri"/>
              <a:ea typeface="Calibri"/>
              <a:cs typeface="Calibri"/>
              <a:sym typeface="Calibri"/>
            </a:endParaRPr>
          </a:p>
        </p:txBody>
      </p:sp>
      <p:sp>
        <p:nvSpPr>
          <p:cNvPr id="238" name="Google Shape;238;p22"/>
          <p:cNvSpPr/>
          <p:nvPr/>
        </p:nvSpPr>
        <p:spPr>
          <a:xfrm>
            <a:off x="2194560" y="6217920"/>
            <a:ext cx="731160" cy="3654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en-US" sz="1800">
                <a:solidFill>
                  <a:schemeClr val="dk1"/>
                </a:solidFill>
                <a:latin typeface="Arial"/>
                <a:ea typeface="Arial"/>
                <a:cs typeface="Arial"/>
                <a:sym typeface="Arial"/>
              </a:rPr>
              <a:t>i</a:t>
            </a:r>
            <a:r>
              <a:rPr baseline="-25000" lang="en-US" sz="1800">
                <a:solidFill>
                  <a:schemeClr val="dk1"/>
                </a:solidFill>
                <a:latin typeface="Arial"/>
                <a:ea typeface="Arial"/>
                <a:cs typeface="Arial"/>
                <a:sym typeface="Arial"/>
              </a:rPr>
              <a:t>4</a:t>
            </a:r>
            <a:endParaRPr sz="1800">
              <a:solidFill>
                <a:schemeClr val="dk1"/>
              </a:solidFill>
              <a:latin typeface="Calibri"/>
              <a:ea typeface="Calibri"/>
              <a:cs typeface="Calibri"/>
              <a:sym typeface="Calibri"/>
            </a:endParaRPr>
          </a:p>
        </p:txBody>
      </p:sp>
      <p:sp>
        <p:nvSpPr>
          <p:cNvPr id="239" name="Google Shape;239;p22"/>
          <p:cNvSpPr/>
          <p:nvPr/>
        </p:nvSpPr>
        <p:spPr>
          <a:xfrm>
            <a:off x="5303520" y="5694120"/>
            <a:ext cx="273960" cy="24912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en-US" sz="1800">
                <a:solidFill>
                  <a:schemeClr val="dk1"/>
                </a:solidFill>
                <a:latin typeface="Arial"/>
                <a:ea typeface="Arial"/>
                <a:cs typeface="Arial"/>
                <a:sym typeface="Arial"/>
              </a:rPr>
              <a:t>o1</a:t>
            </a:r>
            <a:endParaRPr sz="1800">
              <a:solidFill>
                <a:schemeClr val="dk1"/>
              </a:solidFill>
              <a:latin typeface="Calibri"/>
              <a:ea typeface="Calibri"/>
              <a:cs typeface="Calibri"/>
              <a:sym typeface="Calibri"/>
            </a:endParaRPr>
          </a:p>
        </p:txBody>
      </p:sp>
      <p:sp>
        <p:nvSpPr>
          <p:cNvPr id="240" name="Google Shape;240;p22"/>
          <p:cNvSpPr/>
          <p:nvPr/>
        </p:nvSpPr>
        <p:spPr>
          <a:xfrm>
            <a:off x="5212080" y="6035040"/>
            <a:ext cx="365400" cy="18252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en-US" sz="1800">
                <a:solidFill>
                  <a:schemeClr val="dk1"/>
                </a:solidFill>
                <a:latin typeface="Arial"/>
                <a:ea typeface="Arial"/>
                <a:cs typeface="Arial"/>
                <a:sym typeface="Arial"/>
              </a:rPr>
              <a:t>o2</a:t>
            </a:r>
            <a:endParaRPr sz="1800">
              <a:solidFill>
                <a:schemeClr val="dk1"/>
              </a:solidFill>
              <a:latin typeface="Calibri"/>
              <a:ea typeface="Calibri"/>
              <a:cs typeface="Calibri"/>
              <a:sym typeface="Calibri"/>
            </a:endParaRPr>
          </a:p>
        </p:txBody>
      </p:sp>
      <p:sp>
        <p:nvSpPr>
          <p:cNvPr id="241" name="Google Shape;241;p22"/>
          <p:cNvSpPr/>
          <p:nvPr/>
        </p:nvSpPr>
        <p:spPr>
          <a:xfrm>
            <a:off x="5120640" y="6309360"/>
            <a:ext cx="456840" cy="18252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en-US" sz="1800">
                <a:solidFill>
                  <a:schemeClr val="dk1"/>
                </a:solidFill>
                <a:latin typeface="Arial"/>
                <a:ea typeface="Arial"/>
                <a:cs typeface="Arial"/>
                <a:sym typeface="Arial"/>
              </a:rPr>
              <a:t>o3</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p:nvPr/>
        </p:nvSpPr>
        <p:spPr>
          <a:xfrm>
            <a:off x="457200" y="273600"/>
            <a:ext cx="8228880" cy="1144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4400">
                <a:solidFill>
                  <a:schemeClr val="dk1"/>
                </a:solidFill>
                <a:latin typeface="Arial"/>
                <a:ea typeface="Arial"/>
                <a:cs typeface="Arial"/>
                <a:sym typeface="Arial"/>
              </a:rPr>
              <a:t>Example:-</a:t>
            </a:r>
            <a:endParaRPr sz="1800">
              <a:solidFill>
                <a:schemeClr val="dk1"/>
              </a:solidFill>
              <a:latin typeface="Calibri"/>
              <a:ea typeface="Calibri"/>
              <a:cs typeface="Calibri"/>
              <a:sym typeface="Calibri"/>
            </a:endParaRPr>
          </a:p>
        </p:txBody>
      </p:sp>
      <p:sp>
        <p:nvSpPr>
          <p:cNvPr id="247" name="Google Shape;247;p23"/>
          <p:cNvSpPr/>
          <p:nvPr/>
        </p:nvSpPr>
        <p:spPr>
          <a:xfrm>
            <a:off x="457200" y="1604520"/>
            <a:ext cx="8228880" cy="3976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3200">
                <a:solidFill>
                  <a:schemeClr val="dk1"/>
                </a:solidFill>
                <a:latin typeface="Arial"/>
                <a:ea typeface="Arial"/>
                <a:cs typeface="Arial"/>
                <a:sym typeface="Arial"/>
              </a:rPr>
              <a:t>Consider the case of the library system, where -</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3200">
                <a:solidFill>
                  <a:schemeClr val="dk1"/>
                </a:solidFill>
                <a:latin typeface="Arial"/>
                <a:ea typeface="Arial"/>
                <a:cs typeface="Arial"/>
                <a:sym typeface="Arial"/>
              </a:rPr>
              <a:t>F1: Search Book function </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3200">
                <a:solidFill>
                  <a:schemeClr val="dk1"/>
                </a:solidFill>
                <a:latin typeface="Arial"/>
                <a:ea typeface="Arial"/>
                <a:cs typeface="Arial"/>
                <a:sym typeface="Arial"/>
              </a:rPr>
              <a:t>Input: an author’s name</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3200">
                <a:solidFill>
                  <a:schemeClr val="dk1"/>
                </a:solidFill>
                <a:latin typeface="Arial"/>
                <a:ea typeface="Arial"/>
                <a:cs typeface="Arial"/>
                <a:sym typeface="Arial"/>
              </a:rPr>
              <a:t>Output: details of the author’s books and the location of these books in the library</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p:nvPr/>
        </p:nvSpPr>
        <p:spPr>
          <a:xfrm>
            <a:off x="457200" y="273600"/>
            <a:ext cx="8228880" cy="869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4400">
                <a:solidFill>
                  <a:schemeClr val="dk1"/>
                </a:solidFill>
                <a:latin typeface="Arial"/>
                <a:ea typeface="Arial"/>
                <a:cs typeface="Arial"/>
                <a:sym typeface="Arial"/>
              </a:rPr>
              <a:t>Withdraw Cash from ATM</a:t>
            </a:r>
            <a:endParaRPr sz="1800">
              <a:solidFill>
                <a:schemeClr val="dk1"/>
              </a:solidFill>
              <a:latin typeface="Calibri"/>
              <a:ea typeface="Calibri"/>
              <a:cs typeface="Calibri"/>
              <a:sym typeface="Calibri"/>
            </a:endParaRPr>
          </a:p>
        </p:txBody>
      </p:sp>
      <p:sp>
        <p:nvSpPr>
          <p:cNvPr id="253" name="Google Shape;253;p24"/>
          <p:cNvSpPr/>
          <p:nvPr/>
        </p:nvSpPr>
        <p:spPr>
          <a:xfrm>
            <a:off x="91440" y="1026720"/>
            <a:ext cx="8777880" cy="5831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2600">
              <a:solidFill>
                <a:schemeClr val="dk1"/>
              </a:solidFill>
              <a:latin typeface="Arial"/>
              <a:ea typeface="Arial"/>
              <a:cs typeface="Arial"/>
              <a:sym typeface="Arial"/>
            </a:endParaRPr>
          </a:p>
          <a:p>
            <a:pPr indent="0" lvl="0" marL="0" marR="0" rtl="0" algn="l">
              <a:spcBef>
                <a:spcPts val="0"/>
              </a:spcBef>
              <a:spcAft>
                <a:spcPts val="0"/>
              </a:spcAft>
              <a:buNone/>
            </a:pPr>
            <a:r>
              <a:t/>
            </a:r>
            <a:endParaRPr sz="2600">
              <a:solidFill>
                <a:schemeClr val="dk1"/>
              </a:solidFill>
              <a:latin typeface="Arial"/>
              <a:ea typeface="Arial"/>
              <a:cs typeface="Arial"/>
              <a:sym typeface="Arial"/>
            </a:endParaRPr>
          </a:p>
          <a:p>
            <a:pPr indent="0" lvl="0" marL="0" marR="0" rtl="0" algn="l">
              <a:spcBef>
                <a:spcPts val="0"/>
              </a:spcBef>
              <a:spcAft>
                <a:spcPts val="0"/>
              </a:spcAft>
              <a:buNone/>
            </a:pPr>
            <a:r>
              <a:rPr lang="en-US" sz="2600">
                <a:solidFill>
                  <a:schemeClr val="dk1"/>
                </a:solidFill>
                <a:latin typeface="Arial"/>
                <a:ea typeface="Arial"/>
                <a:cs typeface="Arial"/>
                <a:sym typeface="Arial"/>
              </a:rPr>
              <a:t>R1: withdraw cash</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Arial"/>
                <a:ea typeface="Arial"/>
                <a:cs typeface="Arial"/>
                <a:sym typeface="Arial"/>
              </a:rPr>
              <a:t>Description: The withdraw cash function first determines the</a:t>
            </a:r>
            <a:r>
              <a:rPr lang="en-US" sz="2000" u="sng">
                <a:solidFill>
                  <a:schemeClr val="dk1"/>
                </a:solidFill>
                <a:latin typeface="Arial"/>
                <a:ea typeface="Arial"/>
                <a:cs typeface="Arial"/>
                <a:sym typeface="Arial"/>
              </a:rPr>
              <a:t> type of account</a:t>
            </a:r>
            <a:r>
              <a:rPr lang="en-US" sz="2000">
                <a:solidFill>
                  <a:schemeClr val="dk1"/>
                </a:solidFill>
                <a:latin typeface="Arial"/>
                <a:ea typeface="Arial"/>
                <a:cs typeface="Arial"/>
                <a:sym typeface="Arial"/>
              </a:rPr>
              <a:t> that the user has and the account number from which the user wishes to withdraw cash. It checks the </a:t>
            </a:r>
            <a:r>
              <a:rPr lang="en-US" sz="2000" u="sng">
                <a:solidFill>
                  <a:schemeClr val="dk1"/>
                </a:solidFill>
                <a:latin typeface="Arial"/>
                <a:ea typeface="Arial"/>
                <a:cs typeface="Arial"/>
                <a:sym typeface="Arial"/>
              </a:rPr>
              <a:t>balance</a:t>
            </a:r>
            <a:r>
              <a:rPr lang="en-US" sz="2000">
                <a:solidFill>
                  <a:schemeClr val="dk1"/>
                </a:solidFill>
                <a:latin typeface="Arial"/>
                <a:ea typeface="Arial"/>
                <a:cs typeface="Arial"/>
                <a:sym typeface="Arial"/>
              </a:rPr>
              <a:t> to determine whether the requested amount is available in the account. If enough balance is available, it outputs the required cash, otherwise it generates an error message.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u="sng">
                <a:solidFill>
                  <a:schemeClr val="dk1"/>
                </a:solidFill>
                <a:latin typeface="Arial"/>
                <a:ea typeface="Arial"/>
                <a:cs typeface="Arial"/>
                <a:sym typeface="Arial"/>
              </a:rPr>
              <a:t>R1.1 select withdraw amount option</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600">
                <a:solidFill>
                  <a:schemeClr val="dk1"/>
                </a:solidFill>
                <a:latin typeface="Arial"/>
                <a:ea typeface="Arial"/>
                <a:cs typeface="Arial"/>
                <a:sym typeface="Arial"/>
              </a:rPr>
              <a:t>Input: </a:t>
            </a:r>
            <a:r>
              <a:rPr lang="en-US" sz="2000">
                <a:solidFill>
                  <a:schemeClr val="dk1"/>
                </a:solidFill>
                <a:latin typeface="Arial"/>
                <a:ea typeface="Arial"/>
                <a:cs typeface="Arial"/>
                <a:sym typeface="Arial"/>
              </a:rPr>
              <a:t>“withdraw amount” option, </a:t>
            </a:r>
            <a:r>
              <a:rPr lang="en-US" sz="2600">
                <a:solidFill>
                  <a:schemeClr val="dk1"/>
                </a:solidFill>
                <a:latin typeface="Arial"/>
                <a:ea typeface="Arial"/>
                <a:cs typeface="Arial"/>
                <a:sym typeface="Arial"/>
              </a:rPr>
              <a:t>Output: </a:t>
            </a:r>
            <a:r>
              <a:rPr lang="en-US" sz="2000">
                <a:solidFill>
                  <a:schemeClr val="dk1"/>
                </a:solidFill>
                <a:latin typeface="Arial"/>
                <a:ea typeface="Arial"/>
                <a:cs typeface="Arial"/>
                <a:sym typeface="Arial"/>
              </a:rPr>
              <a:t>user prompted to enter the account type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u="sng">
                <a:solidFill>
                  <a:schemeClr val="dk1"/>
                </a:solidFill>
                <a:latin typeface="Arial"/>
                <a:ea typeface="Arial"/>
                <a:cs typeface="Arial"/>
                <a:sym typeface="Arial"/>
              </a:rPr>
              <a:t>R1.2: select account type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Arial"/>
                <a:ea typeface="Arial"/>
                <a:cs typeface="Arial"/>
                <a:sym typeface="Arial"/>
              </a:rPr>
              <a:t>Input: user option, Output: prompt to enter amount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u="sng">
                <a:solidFill>
                  <a:schemeClr val="dk1"/>
                </a:solidFill>
                <a:latin typeface="Arial"/>
                <a:ea typeface="Arial"/>
                <a:cs typeface="Arial"/>
                <a:sym typeface="Arial"/>
              </a:rPr>
              <a:t>R1.3: get required amount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Arial"/>
                <a:ea typeface="Arial"/>
                <a:cs typeface="Arial"/>
                <a:sym typeface="Arial"/>
              </a:rPr>
              <a:t>Input: amount to be withdrawn in integer values greater than 100 and less than10,000 in multiples of 100. Output: The requested cash and printed transaction statement.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p:nvPr/>
        </p:nvSpPr>
        <p:spPr>
          <a:xfrm>
            <a:off x="457200" y="274680"/>
            <a:ext cx="7291440" cy="114120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Functional requirements for the Mental Health Care-Patient Management System</a:t>
            </a:r>
            <a:endParaRPr sz="1800">
              <a:solidFill>
                <a:schemeClr val="dk1"/>
              </a:solidFill>
              <a:latin typeface="Calibri"/>
              <a:ea typeface="Calibri"/>
              <a:cs typeface="Calibri"/>
              <a:sym typeface="Calibri"/>
            </a:endParaRPr>
          </a:p>
        </p:txBody>
      </p:sp>
      <p:sp>
        <p:nvSpPr>
          <p:cNvPr id="259" name="Google Shape;259;p25"/>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A user shall be able to search the appointments lists for all clinics.</a:t>
            </a:r>
            <a:endParaRPr sz="1800">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The system shall generate each day, for each clinic, a list of patients who are expected to attend appointments that day. </a:t>
            </a:r>
            <a:endParaRPr sz="1800">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Each staff member using the system shall be uniquely identified by his or her 8-digit employee number. </a:t>
            </a:r>
            <a:endParaRPr sz="1800">
              <a:solidFill>
                <a:schemeClr val="dk1"/>
              </a:solidFill>
              <a:latin typeface="Calibri"/>
              <a:ea typeface="Calibri"/>
              <a:cs typeface="Calibri"/>
              <a:sym typeface="Calibri"/>
            </a:endParaRPr>
          </a:p>
        </p:txBody>
      </p:sp>
      <p:sp>
        <p:nvSpPr>
          <p:cNvPr id="260" name="Google Shape;260;p25"/>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6"/>
          <p:cNvSpPr/>
          <p:nvPr/>
        </p:nvSpPr>
        <p:spPr>
          <a:xfrm>
            <a:off x="457200" y="273600"/>
            <a:ext cx="8228160" cy="11437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2800">
                <a:solidFill>
                  <a:schemeClr val="dk1"/>
                </a:solidFill>
                <a:latin typeface="Arial"/>
                <a:ea typeface="Arial"/>
                <a:cs typeface="Arial"/>
                <a:sym typeface="Arial"/>
              </a:rPr>
              <a:t>Non-functional requirements (NFR)</a:t>
            </a:r>
            <a:endParaRPr sz="1800">
              <a:solidFill>
                <a:schemeClr val="dk1"/>
              </a:solidFill>
              <a:latin typeface="Calibri"/>
              <a:ea typeface="Calibri"/>
              <a:cs typeface="Calibri"/>
              <a:sym typeface="Calibri"/>
            </a:endParaRPr>
          </a:p>
        </p:txBody>
      </p:sp>
      <p:sp>
        <p:nvSpPr>
          <p:cNvPr id="266" name="Google Shape;266;p26"/>
          <p:cNvSpPr/>
          <p:nvPr/>
        </p:nvSpPr>
        <p:spPr>
          <a:xfrm>
            <a:off x="365760" y="1463040"/>
            <a:ext cx="8228160" cy="5168520"/>
          </a:xfrm>
          <a:prstGeom prst="rect">
            <a:avLst/>
          </a:prstGeom>
          <a:noFill/>
          <a:ln>
            <a:noFill/>
          </a:ln>
        </p:spPr>
        <p:txBody>
          <a:bodyPr anchorCtr="0" anchor="ctr" bIns="0" lIns="0" spcFirstLastPara="1" rIns="0" wrap="square" tIns="0">
            <a:noAutofit/>
          </a:bodyPr>
          <a:lstStyle/>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Non-functional requirements define the overall qualities or</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attributes of the resulting system. As per IEEE, </a:t>
            </a:r>
            <a:r>
              <a:rPr i="1" lang="en-US" sz="2200">
                <a:solidFill>
                  <a:schemeClr val="dk1"/>
                </a:solidFill>
                <a:latin typeface="Arial"/>
                <a:ea typeface="Arial"/>
                <a:cs typeface="Arial"/>
                <a:sym typeface="Arial"/>
              </a:rPr>
              <a:t>it describes not what the software will do, but how the software will do it</a:t>
            </a:r>
            <a:r>
              <a:rPr lang="en-US" sz="2200">
                <a:solidFill>
                  <a:schemeClr val="dk1"/>
                </a:solidFill>
                <a:latin typeface="Arial"/>
                <a:ea typeface="Arial"/>
                <a:cs typeface="Arial"/>
                <a:sym typeface="Arial"/>
              </a:rPr>
              <a:t>.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For EXAMPLE, the software performance requirement, design constraints and external Interface requirements  etc.</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Non-functional requirements place restrictions on the product</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being developed, the development process, and specify external</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constraints that the product must meet.</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Examples of NFR include safety, security, usability, reliability and</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performance requirements.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Project management issues (costs, time, schedule) are often</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considered as non-functional requirements </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7"/>
          <p:cNvSpPr/>
          <p:nvPr/>
        </p:nvSpPr>
        <p:spPr>
          <a:xfrm>
            <a:off x="457200" y="91440"/>
            <a:ext cx="8228160" cy="108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3200">
                <a:solidFill>
                  <a:schemeClr val="dk1"/>
                </a:solidFill>
                <a:latin typeface="Arial"/>
                <a:ea typeface="Arial"/>
                <a:cs typeface="Arial"/>
                <a:sym typeface="Arial"/>
              </a:rPr>
              <a:t>Functional vs. Non-functional</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3200">
                <a:solidFill>
                  <a:schemeClr val="dk1"/>
                </a:solidFill>
                <a:latin typeface="Arial"/>
                <a:ea typeface="Arial"/>
                <a:cs typeface="Arial"/>
                <a:sym typeface="Arial"/>
              </a:rPr>
              <a:t>requirements</a:t>
            </a:r>
            <a:endParaRPr sz="1800">
              <a:solidFill>
                <a:schemeClr val="dk1"/>
              </a:solidFill>
              <a:latin typeface="Calibri"/>
              <a:ea typeface="Calibri"/>
              <a:cs typeface="Calibri"/>
              <a:sym typeface="Calibri"/>
            </a:endParaRPr>
          </a:p>
        </p:txBody>
      </p:sp>
      <p:sp>
        <p:nvSpPr>
          <p:cNvPr id="272" name="Google Shape;272;p27"/>
          <p:cNvSpPr/>
          <p:nvPr/>
        </p:nvSpPr>
        <p:spPr>
          <a:xfrm>
            <a:off x="457200" y="1418400"/>
            <a:ext cx="8411400" cy="5139000"/>
          </a:xfrm>
          <a:prstGeom prst="rect">
            <a:avLst/>
          </a:prstGeom>
          <a:noFill/>
          <a:ln>
            <a:noFill/>
          </a:ln>
        </p:spPr>
        <p:txBody>
          <a:bodyPr anchorCtr="0" anchor="ctr" bIns="0" lIns="0" spcFirstLastPara="1" rIns="0" wrap="square" tIns="0">
            <a:noAutofit/>
          </a:bodyPr>
          <a:lstStyle/>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Some properties of a system may be expressed either as a</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functional or non-functional property.</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Example. The system shall ensure that data is protected from</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unauthorised access.</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Conventionally a non-functional requirement (security) because it does not specify specific system functionality Expressed as functional requirement:</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The system shall include a user authorisation procedure where users must identify themselves using a login name and password. Only users who are authorised in this way may access the system data.</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Non-functional requirements may result in new functional</a:t>
            </a:r>
            <a:endParaRPr sz="1800">
              <a:solidFill>
                <a:schemeClr val="dk1"/>
              </a:solidFill>
              <a:latin typeface="Calibri"/>
              <a:ea typeface="Calibri"/>
              <a:cs typeface="Calibri"/>
              <a:sym typeface="Calibri"/>
            </a:endParaRPr>
          </a:p>
          <a:p>
            <a:pPr indent="-62864" lvl="0" marL="0" marR="0" rtl="0" algn="l">
              <a:lnSpc>
                <a:spcPct val="100000"/>
              </a:lnSpc>
              <a:spcBef>
                <a:spcPts val="0"/>
              </a:spcBef>
              <a:spcAft>
                <a:spcPts val="0"/>
              </a:spcAft>
              <a:buClr>
                <a:schemeClr val="dk1"/>
              </a:buClr>
              <a:buSzPts val="990"/>
              <a:buFont typeface="Noto Sans Symbols"/>
              <a:buChar char="l"/>
            </a:pPr>
            <a:r>
              <a:rPr lang="en-US" sz="2200">
                <a:solidFill>
                  <a:schemeClr val="dk1"/>
                </a:solidFill>
                <a:latin typeface="Arial"/>
                <a:ea typeface="Arial"/>
                <a:cs typeface="Arial"/>
                <a:sym typeface="Arial"/>
              </a:rPr>
              <a:t>requirements statement</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8"/>
          <p:cNvSpPr/>
          <p:nvPr/>
        </p:nvSpPr>
        <p:spPr>
          <a:xfrm>
            <a:off x="457200" y="274680"/>
            <a:ext cx="7291440" cy="114120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Requirements imprecision</a:t>
            </a:r>
            <a:endParaRPr sz="1800">
              <a:solidFill>
                <a:schemeClr val="dk1"/>
              </a:solidFill>
              <a:latin typeface="Calibri"/>
              <a:ea typeface="Calibri"/>
              <a:cs typeface="Calibri"/>
              <a:sym typeface="Calibri"/>
            </a:endParaRPr>
          </a:p>
        </p:txBody>
      </p:sp>
      <p:sp>
        <p:nvSpPr>
          <p:cNvPr id="278" name="Google Shape;278;p28"/>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Problems arise when requirements are not precisely stated.</a:t>
            </a:r>
            <a:endParaRPr sz="1800">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Ambiguous requirements may be interpreted in different ways by developers and users.</a:t>
            </a:r>
            <a:endParaRPr sz="1800">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Consider the term ‘search’ in requirement 1</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User intention – search for a patient name across all appointments in all clinics;</a:t>
            </a:r>
            <a:endParaRPr b="0" i="0" sz="1800" u="none" cap="none" strike="noStrike">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Developer interpretation – search for a patient name in an individual clinic. User chooses clinic then search.</a:t>
            </a:r>
            <a:endParaRPr b="0" i="0" sz="1800" u="none" cap="none" strike="noStrike">
              <a:solidFill>
                <a:schemeClr val="dk1"/>
              </a:solidFill>
              <a:latin typeface="Calibri"/>
              <a:ea typeface="Calibri"/>
              <a:cs typeface="Calibri"/>
              <a:sym typeface="Calibri"/>
            </a:endParaRPr>
          </a:p>
        </p:txBody>
      </p:sp>
      <p:sp>
        <p:nvSpPr>
          <p:cNvPr id="279" name="Google Shape;279;p28"/>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9"/>
          <p:cNvSpPr/>
          <p:nvPr/>
        </p:nvSpPr>
        <p:spPr>
          <a:xfrm>
            <a:off x="457200" y="274680"/>
            <a:ext cx="7291440" cy="114120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Requirements completeness and consistency</a:t>
            </a:r>
            <a:endParaRPr sz="1800">
              <a:solidFill>
                <a:schemeClr val="dk1"/>
              </a:solidFill>
              <a:latin typeface="Calibri"/>
              <a:ea typeface="Calibri"/>
              <a:cs typeface="Calibri"/>
              <a:sym typeface="Calibri"/>
            </a:endParaRPr>
          </a:p>
        </p:txBody>
      </p:sp>
      <p:sp>
        <p:nvSpPr>
          <p:cNvPr id="285" name="Google Shape;285;p29"/>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In principle, requirements should be both complete and consistent.</a:t>
            </a:r>
            <a:endParaRPr sz="1800">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Complete</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They should include descriptions of all facilities required.</a:t>
            </a:r>
            <a:endParaRPr b="0" i="0" sz="1800" u="none" cap="none" strike="noStrike">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Consistent</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There should be no conflicts or contradictions in the descriptions of the system facilities.</a:t>
            </a:r>
            <a:endParaRPr b="0" i="0" sz="1800" u="none" cap="none" strike="noStrike">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In practice, it is impossible to produce a complete and consistent requirements document.</a:t>
            </a:r>
            <a:endParaRPr sz="1800">
              <a:solidFill>
                <a:schemeClr val="dk1"/>
              </a:solidFill>
              <a:latin typeface="Calibri"/>
              <a:ea typeface="Calibri"/>
              <a:cs typeface="Calibri"/>
              <a:sym typeface="Calibri"/>
            </a:endParaRPr>
          </a:p>
        </p:txBody>
      </p:sp>
      <p:sp>
        <p:nvSpPr>
          <p:cNvPr id="286" name="Google Shape;286;p29"/>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0"/>
          <p:cNvSpPr/>
          <p:nvPr/>
        </p:nvSpPr>
        <p:spPr>
          <a:xfrm>
            <a:off x="457200" y="274680"/>
            <a:ext cx="7291440" cy="1141200"/>
          </a:xfrm>
          <a:prstGeom prst="rect">
            <a:avLst/>
          </a:prstGeom>
          <a:noFill/>
          <a:ln>
            <a:noFill/>
          </a:ln>
        </p:spPr>
        <p:txBody>
          <a:bodyPr anchorCtr="1" anchor="ctr" bIns="44275" lIns="90350" spcFirstLastPara="1" rIns="90350" wrap="square" tIns="44275">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Non-functional requirements</a:t>
            </a:r>
            <a:endParaRPr sz="1800">
              <a:solidFill>
                <a:schemeClr val="dk1"/>
              </a:solidFill>
              <a:latin typeface="Calibri"/>
              <a:ea typeface="Calibri"/>
              <a:cs typeface="Calibri"/>
              <a:sym typeface="Calibri"/>
            </a:endParaRPr>
          </a:p>
        </p:txBody>
      </p:sp>
      <p:sp>
        <p:nvSpPr>
          <p:cNvPr id="292" name="Google Shape;292;p30"/>
          <p:cNvSpPr/>
          <p:nvPr/>
        </p:nvSpPr>
        <p:spPr>
          <a:xfrm>
            <a:off x="457200" y="1600200"/>
            <a:ext cx="8227800" cy="4524120"/>
          </a:xfrm>
          <a:prstGeom prst="rect">
            <a:avLst/>
          </a:prstGeom>
          <a:noFill/>
          <a:ln>
            <a:noFill/>
          </a:ln>
        </p:spPr>
        <p:txBody>
          <a:bodyPr anchorCtr="1" anchor="t" bIns="44275" lIns="90350" spcFirstLastPara="1" rIns="90350" wrap="square" tIns="44275">
            <a:noAutofit/>
          </a:bodyPr>
          <a:lstStyle/>
          <a:p>
            <a:pPr indent="-152400" lvl="0" marL="0" marR="0" rtl="0" algn="l">
              <a:lnSpc>
                <a:spcPct val="9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These define system properties and constraints e.g. reliability, response time and storage requirements. Constraints are I/O device capability, system representations, etc.</a:t>
            </a:r>
            <a:endParaRPr sz="1800">
              <a:solidFill>
                <a:schemeClr val="dk1"/>
              </a:solidFill>
              <a:latin typeface="Calibri"/>
              <a:ea typeface="Calibri"/>
              <a:cs typeface="Calibri"/>
              <a:sym typeface="Calibri"/>
            </a:endParaRPr>
          </a:p>
          <a:p>
            <a:pPr indent="-152400" lvl="0" marL="0" marR="0" rtl="0" algn="l">
              <a:lnSpc>
                <a:spcPct val="9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Process requirements may also be specified mandating a particular IDE, programming language or development method.</a:t>
            </a:r>
            <a:endParaRPr sz="1800">
              <a:solidFill>
                <a:schemeClr val="dk1"/>
              </a:solidFill>
              <a:latin typeface="Calibri"/>
              <a:ea typeface="Calibri"/>
              <a:cs typeface="Calibri"/>
              <a:sym typeface="Calibri"/>
            </a:endParaRPr>
          </a:p>
          <a:p>
            <a:pPr indent="-152400" lvl="0" marL="0" marR="0" rtl="0" algn="l">
              <a:lnSpc>
                <a:spcPct val="9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Non-functional requirements may be more critical than functional requirements. If these are not met, the system may be useless.</a:t>
            </a:r>
            <a:endParaRPr sz="1800">
              <a:solidFill>
                <a:schemeClr val="dk1"/>
              </a:solidFill>
              <a:latin typeface="Calibri"/>
              <a:ea typeface="Calibri"/>
              <a:cs typeface="Calibri"/>
              <a:sym typeface="Calibri"/>
            </a:endParaRPr>
          </a:p>
        </p:txBody>
      </p:sp>
      <p:sp>
        <p:nvSpPr>
          <p:cNvPr id="293" name="Google Shape;293;p30"/>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1"/>
          <p:cNvSpPr/>
          <p:nvPr/>
        </p:nvSpPr>
        <p:spPr>
          <a:xfrm>
            <a:off x="457200" y="274680"/>
            <a:ext cx="7291440" cy="11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1"/>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
        <p:nvSpPr>
          <p:cNvPr id="300" name="Google Shape;300;p31"/>
          <p:cNvSpPr/>
          <p:nvPr/>
        </p:nvSpPr>
        <p:spPr>
          <a:xfrm>
            <a:off x="457200" y="273600"/>
            <a:ext cx="8411400" cy="5482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2400">
                <a:solidFill>
                  <a:srgbClr val="46424D"/>
                </a:solidFill>
                <a:latin typeface="Arial"/>
                <a:ea typeface="Arial"/>
                <a:cs typeface="Arial"/>
                <a:sym typeface="Arial"/>
              </a:rPr>
              <a:t>Types of nonfunctional requirement </a:t>
            </a:r>
            <a:endParaRPr sz="1800">
              <a:solidFill>
                <a:schemeClr val="dk1"/>
              </a:solidFill>
              <a:latin typeface="Calibri"/>
              <a:ea typeface="Calibri"/>
              <a:cs typeface="Calibri"/>
              <a:sym typeface="Calibri"/>
            </a:endParaRPr>
          </a:p>
        </p:txBody>
      </p:sp>
      <p:sp>
        <p:nvSpPr>
          <p:cNvPr id="301" name="Google Shape;301;p31"/>
          <p:cNvSpPr/>
          <p:nvPr/>
        </p:nvSpPr>
        <p:spPr>
          <a:xfrm>
            <a:off x="457200" y="914400"/>
            <a:ext cx="8228160" cy="5688000"/>
          </a:xfrm>
          <a:prstGeom prst="rect">
            <a:avLst/>
          </a:prstGeom>
          <a:noFill/>
          <a:ln>
            <a:noFill/>
          </a:ln>
        </p:spPr>
        <p:txBody>
          <a:bodyPr anchorCtr="0" anchor="ctr" bIns="0" lIns="0" spcFirstLastPara="1" rIns="0" wrap="square" tIns="0">
            <a:noAutofit/>
          </a:bodyPr>
          <a:lstStyle/>
          <a:p>
            <a:pPr indent="0" lvl="0" marL="457200" marR="0" rtl="0" algn="l">
              <a:lnSpc>
                <a:spcPct val="100000"/>
              </a:lnSpc>
              <a:spcBef>
                <a:spcPts val="0"/>
              </a:spcBef>
              <a:spcAft>
                <a:spcPts val="0"/>
              </a:spcAft>
              <a:buNone/>
            </a:pPr>
            <a:r>
              <a:rPr b="1" lang="en-US" sz="2200" u="sng">
                <a:latin typeface="Calibri"/>
                <a:ea typeface="Calibri"/>
                <a:cs typeface="Calibri"/>
                <a:sym typeface="Calibri"/>
              </a:rPr>
              <a:t>P</a:t>
            </a:r>
            <a:r>
              <a:rPr b="1" lang="en-US" sz="2200" u="sng">
                <a:solidFill>
                  <a:srgbClr val="000000"/>
                </a:solidFill>
                <a:latin typeface="Calibri"/>
                <a:ea typeface="Calibri"/>
                <a:cs typeface="Calibri"/>
                <a:sym typeface="Calibri"/>
              </a:rPr>
              <a:t>roduct requirements</a:t>
            </a:r>
            <a:endParaRPr b="1" sz="1800">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rgbClr val="000000"/>
              </a:buClr>
              <a:buSzPts val="2200"/>
              <a:buFont typeface="Calibri"/>
              <a:buAutoNum type="arabicPeriod"/>
            </a:pPr>
            <a:r>
              <a:rPr lang="en-US" sz="2200">
                <a:solidFill>
                  <a:srgbClr val="000000"/>
                </a:solidFill>
                <a:latin typeface="Calibri"/>
                <a:ea typeface="Calibri"/>
                <a:cs typeface="Calibri"/>
                <a:sym typeface="Calibri"/>
              </a:rPr>
              <a:t> Usability requirements </a:t>
            </a:r>
            <a:endParaRPr sz="1800">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rgbClr val="000000"/>
              </a:buClr>
              <a:buSzPts val="2200"/>
              <a:buFont typeface="Calibri"/>
              <a:buAutoNum type="arabicPeriod"/>
            </a:pPr>
            <a:r>
              <a:rPr lang="en-US" sz="2200">
                <a:solidFill>
                  <a:srgbClr val="000000"/>
                </a:solidFill>
                <a:latin typeface="Calibri"/>
                <a:ea typeface="Calibri"/>
                <a:cs typeface="Calibri"/>
                <a:sym typeface="Calibri"/>
              </a:rPr>
              <a:t>Reliability requirement</a:t>
            </a:r>
            <a:endParaRPr sz="1800">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rgbClr val="000000"/>
              </a:buClr>
              <a:buSzPts val="2200"/>
              <a:buFont typeface="Calibri"/>
              <a:buAutoNum type="arabicPeriod"/>
            </a:pPr>
            <a:r>
              <a:rPr lang="en-US" sz="2200">
                <a:solidFill>
                  <a:srgbClr val="000000"/>
                </a:solidFill>
                <a:latin typeface="Calibri"/>
                <a:ea typeface="Calibri"/>
                <a:cs typeface="Calibri"/>
                <a:sym typeface="Calibri"/>
              </a:rPr>
              <a:t>Safety requirements </a:t>
            </a:r>
            <a:endParaRPr sz="1800">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rgbClr val="000000"/>
              </a:buClr>
              <a:buSzPts val="2200"/>
              <a:buFont typeface="Calibri"/>
              <a:buAutoNum type="arabicPeriod"/>
            </a:pPr>
            <a:r>
              <a:rPr lang="en-US" sz="2200">
                <a:solidFill>
                  <a:srgbClr val="000000"/>
                </a:solidFill>
                <a:latin typeface="Calibri"/>
                <a:ea typeface="Calibri"/>
                <a:cs typeface="Calibri"/>
                <a:sym typeface="Calibri"/>
              </a:rPr>
              <a:t>Efficiency requirements </a:t>
            </a:r>
            <a:endParaRPr sz="1800">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rgbClr val="000000"/>
              </a:buClr>
              <a:buSzPts val="2200"/>
              <a:buFont typeface="Calibri"/>
              <a:buAutoNum type="arabicPeriod"/>
            </a:pPr>
            <a:r>
              <a:rPr lang="en-US" sz="2200">
                <a:solidFill>
                  <a:srgbClr val="000000"/>
                </a:solidFill>
                <a:latin typeface="Calibri"/>
                <a:ea typeface="Calibri"/>
                <a:cs typeface="Calibri"/>
                <a:sym typeface="Calibri"/>
              </a:rPr>
              <a:t>Performance requirements </a:t>
            </a:r>
            <a:endParaRPr sz="1800">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rgbClr val="000000"/>
              </a:buClr>
              <a:buSzPts val="2200"/>
              <a:buFont typeface="Calibri"/>
              <a:buAutoNum type="arabicPeriod"/>
            </a:pPr>
            <a:r>
              <a:rPr lang="en-US" sz="2200">
                <a:solidFill>
                  <a:srgbClr val="000000"/>
                </a:solidFill>
                <a:latin typeface="Calibri"/>
                <a:ea typeface="Calibri"/>
                <a:cs typeface="Calibri"/>
                <a:sym typeface="Calibri"/>
              </a:rPr>
              <a:t>Capacity requirements </a:t>
            </a:r>
            <a:endParaRPr sz="18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rPr b="1" lang="en-US" sz="2200" u="sng">
                <a:solidFill>
                  <a:srgbClr val="000000"/>
                </a:solidFill>
                <a:latin typeface="Calibri"/>
                <a:ea typeface="Calibri"/>
                <a:cs typeface="Calibri"/>
                <a:sym typeface="Calibri"/>
              </a:rPr>
              <a:t>Process requirements </a:t>
            </a:r>
            <a:endParaRPr b="1" sz="1800">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rgbClr val="000000"/>
              </a:buClr>
              <a:buSzPts val="2200"/>
              <a:buFont typeface="Calibri"/>
              <a:buAutoNum type="arabicPeriod"/>
            </a:pPr>
            <a:r>
              <a:rPr lang="en-US" sz="2200">
                <a:solidFill>
                  <a:srgbClr val="000000"/>
                </a:solidFill>
                <a:latin typeface="Calibri"/>
                <a:ea typeface="Calibri"/>
                <a:cs typeface="Calibri"/>
                <a:sym typeface="Calibri"/>
              </a:rPr>
              <a:t>Delivery requirements </a:t>
            </a:r>
            <a:endParaRPr sz="1800">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rgbClr val="000000"/>
              </a:buClr>
              <a:buSzPts val="2200"/>
              <a:buFont typeface="Calibri"/>
              <a:buAutoNum type="arabicPeriod"/>
            </a:pPr>
            <a:r>
              <a:rPr lang="en-US" sz="2200">
                <a:solidFill>
                  <a:srgbClr val="000000"/>
                </a:solidFill>
                <a:latin typeface="Calibri"/>
                <a:ea typeface="Calibri"/>
                <a:cs typeface="Calibri"/>
                <a:sym typeface="Calibri"/>
              </a:rPr>
              <a:t>implementation requirements </a:t>
            </a:r>
            <a:endParaRPr sz="1800">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rgbClr val="000000"/>
              </a:buClr>
              <a:buSzPts val="2200"/>
              <a:buFont typeface="Calibri"/>
              <a:buAutoNum type="arabicPeriod"/>
            </a:pPr>
            <a:r>
              <a:rPr lang="en-US" sz="2200">
                <a:solidFill>
                  <a:srgbClr val="000000"/>
                </a:solidFill>
                <a:latin typeface="Calibri"/>
                <a:ea typeface="Calibri"/>
                <a:cs typeface="Calibri"/>
                <a:sym typeface="Calibri"/>
              </a:rPr>
              <a:t>standards requirements </a:t>
            </a:r>
            <a:endParaRPr sz="18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rPr b="1" lang="en-US" sz="2200" u="sng">
                <a:latin typeface="Calibri"/>
                <a:ea typeface="Calibri"/>
                <a:cs typeface="Calibri"/>
                <a:sym typeface="Calibri"/>
              </a:rPr>
              <a:t> </a:t>
            </a:r>
            <a:r>
              <a:rPr b="1" lang="en-US" sz="2200" u="sng">
                <a:solidFill>
                  <a:srgbClr val="000000"/>
                </a:solidFill>
                <a:latin typeface="Calibri"/>
                <a:ea typeface="Calibri"/>
                <a:cs typeface="Calibri"/>
                <a:sym typeface="Calibri"/>
              </a:rPr>
              <a:t>External requirements </a:t>
            </a:r>
            <a:endParaRPr b="1" sz="1800">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rgbClr val="000000"/>
              </a:buClr>
              <a:buSzPts val="2200"/>
              <a:buFont typeface="Calibri"/>
              <a:buAutoNum type="arabicPeriod"/>
            </a:pPr>
            <a:r>
              <a:rPr lang="en-US" sz="2200">
                <a:solidFill>
                  <a:srgbClr val="000000"/>
                </a:solidFill>
                <a:latin typeface="Calibri"/>
                <a:ea typeface="Calibri"/>
                <a:cs typeface="Calibri"/>
                <a:sym typeface="Calibri"/>
              </a:rPr>
              <a:t>Legal constraints </a:t>
            </a:r>
            <a:endParaRPr sz="1800">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rgbClr val="000000"/>
              </a:buClr>
              <a:buSzPts val="2200"/>
              <a:buFont typeface="Calibri"/>
              <a:buAutoNum type="arabicPeriod"/>
            </a:pPr>
            <a:r>
              <a:rPr lang="en-US" sz="2200">
                <a:solidFill>
                  <a:srgbClr val="000000"/>
                </a:solidFill>
                <a:latin typeface="Calibri"/>
                <a:ea typeface="Calibri"/>
                <a:cs typeface="Calibri"/>
                <a:sym typeface="Calibri"/>
              </a:rPr>
              <a:t>Economic constraints</a:t>
            </a:r>
            <a:endParaRPr sz="1800">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rgbClr val="000000"/>
              </a:buClr>
              <a:buSzPts val="2200"/>
              <a:buFont typeface="Calibri"/>
              <a:buAutoNum type="arabicPeriod"/>
            </a:pPr>
            <a:r>
              <a:rPr lang="en-US" sz="2200">
                <a:solidFill>
                  <a:srgbClr val="000000"/>
                </a:solidFill>
                <a:latin typeface="Calibri"/>
                <a:ea typeface="Calibri"/>
                <a:cs typeface="Calibri"/>
                <a:sym typeface="Calibri"/>
              </a:rPr>
              <a:t>Interoperability requirements</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2"/>
          <p:cNvSpPr/>
          <p:nvPr/>
        </p:nvSpPr>
        <p:spPr>
          <a:xfrm>
            <a:off x="457200" y="274680"/>
            <a:ext cx="8227800" cy="637920"/>
          </a:xfrm>
          <a:prstGeom prst="rect">
            <a:avLst/>
          </a:prstGeom>
          <a:no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32"/>
          <p:cNvSpPr/>
          <p:nvPr/>
        </p:nvSpPr>
        <p:spPr>
          <a:xfrm>
            <a:off x="457200" y="838080"/>
            <a:ext cx="8227800" cy="571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2"/>
          <p:cNvSpPr txBox="1"/>
          <p:nvPr/>
        </p:nvSpPr>
        <p:spPr>
          <a:xfrm>
            <a:off x="457200" y="273600"/>
            <a:ext cx="8229240" cy="823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4400">
                <a:solidFill>
                  <a:srgbClr val="000000"/>
                </a:solidFill>
                <a:latin typeface="Calibri"/>
                <a:ea typeface="Calibri"/>
                <a:cs typeface="Calibri"/>
                <a:sym typeface="Calibri"/>
              </a:rPr>
              <a:t>Non-functional requirements</a:t>
            </a:r>
            <a:endParaRPr sz="1800">
              <a:solidFill>
                <a:schemeClr val="dk1"/>
              </a:solidFill>
              <a:latin typeface="Calibri"/>
              <a:ea typeface="Calibri"/>
              <a:cs typeface="Calibri"/>
              <a:sym typeface="Calibri"/>
            </a:endParaRPr>
          </a:p>
        </p:txBody>
      </p:sp>
      <p:sp>
        <p:nvSpPr>
          <p:cNvPr id="309" name="Google Shape;309;p32"/>
          <p:cNvSpPr txBox="1"/>
          <p:nvPr/>
        </p:nvSpPr>
        <p:spPr>
          <a:xfrm>
            <a:off x="457200" y="1499040"/>
            <a:ext cx="8321040" cy="4718880"/>
          </a:xfrm>
          <a:prstGeom prst="rect">
            <a:avLst/>
          </a:prstGeom>
          <a:noFill/>
          <a:ln>
            <a:noFill/>
          </a:ln>
        </p:spPr>
        <p:txBody>
          <a:bodyPr anchorCtr="0" anchor="ctr"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Process requirements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Delivery requirements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implementation requirements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standards requirements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Product requirements</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 Usability requirements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Reliability requirement</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Safety requirements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Efficiency requirements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Performance requirements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Capacity requirements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External requirements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 Legal constraints </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Economic constraints</a:t>
            </a:r>
            <a:endParaRPr sz="1800">
              <a:solidFill>
                <a:schemeClr val="dk1"/>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Noto Sans Symbols"/>
              <a:buChar char=""/>
            </a:pPr>
            <a:r>
              <a:rPr lang="en-US" sz="2000">
                <a:solidFill>
                  <a:srgbClr val="000000"/>
                </a:solidFill>
                <a:latin typeface="Calibri"/>
                <a:ea typeface="Calibri"/>
                <a:cs typeface="Calibri"/>
                <a:sym typeface="Calibri"/>
              </a:rPr>
              <a:t> Interoperability requirements</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3"/>
          <p:cNvSpPr/>
          <p:nvPr/>
        </p:nvSpPr>
        <p:spPr>
          <a:xfrm>
            <a:off x="457200" y="274680"/>
            <a:ext cx="7291440" cy="114120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Non-functional requirements implementation</a:t>
            </a:r>
            <a:endParaRPr sz="1800">
              <a:solidFill>
                <a:schemeClr val="dk1"/>
              </a:solidFill>
              <a:latin typeface="Calibri"/>
              <a:ea typeface="Calibri"/>
              <a:cs typeface="Calibri"/>
              <a:sym typeface="Calibri"/>
            </a:endParaRPr>
          </a:p>
        </p:txBody>
      </p:sp>
      <p:sp>
        <p:nvSpPr>
          <p:cNvPr id="315" name="Google Shape;315;p33"/>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Non-functional requirements may affect the overall architecture of a system rather than the individual components. </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For example, to ensure that performance requirements are met, you may have to organize the system to minimize communications between components.</a:t>
            </a:r>
            <a:endParaRPr b="0" i="0" sz="1800" u="none" cap="none" strike="noStrike">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A single non-functional requirement, such as a security requirement, may generate a number of related functional requirements that define system services that are required. </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It may also generate requirements that restrict existing requirements. </a:t>
            </a:r>
            <a:endParaRPr b="0" i="0" sz="1800" u="none" cap="none" strike="noStrike">
              <a:solidFill>
                <a:schemeClr val="dk1"/>
              </a:solidFill>
              <a:latin typeface="Calibri"/>
              <a:ea typeface="Calibri"/>
              <a:cs typeface="Calibri"/>
              <a:sym typeface="Calibri"/>
            </a:endParaRPr>
          </a:p>
        </p:txBody>
      </p:sp>
      <p:sp>
        <p:nvSpPr>
          <p:cNvPr id="316" name="Google Shape;316;p33"/>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4"/>
          <p:cNvSpPr/>
          <p:nvPr/>
        </p:nvSpPr>
        <p:spPr>
          <a:xfrm>
            <a:off x="457200" y="274680"/>
            <a:ext cx="7291440" cy="1141200"/>
          </a:xfrm>
          <a:prstGeom prst="rect">
            <a:avLst/>
          </a:prstGeom>
          <a:noFill/>
          <a:ln>
            <a:noFill/>
          </a:ln>
        </p:spPr>
        <p:txBody>
          <a:bodyPr anchorCtr="1" anchor="ctr" bIns="44275" lIns="90350" spcFirstLastPara="1" rIns="90350" wrap="square" tIns="44275">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Non-functional classifications</a:t>
            </a:r>
            <a:endParaRPr sz="1800">
              <a:solidFill>
                <a:schemeClr val="dk1"/>
              </a:solidFill>
              <a:latin typeface="Calibri"/>
              <a:ea typeface="Calibri"/>
              <a:cs typeface="Calibri"/>
              <a:sym typeface="Calibri"/>
            </a:endParaRPr>
          </a:p>
        </p:txBody>
      </p:sp>
      <p:sp>
        <p:nvSpPr>
          <p:cNvPr id="322" name="Google Shape;322;p34"/>
          <p:cNvSpPr/>
          <p:nvPr/>
        </p:nvSpPr>
        <p:spPr>
          <a:xfrm>
            <a:off x="457200" y="1600200"/>
            <a:ext cx="8227800" cy="4524120"/>
          </a:xfrm>
          <a:prstGeom prst="rect">
            <a:avLst/>
          </a:prstGeom>
          <a:noFill/>
          <a:ln>
            <a:noFill/>
          </a:ln>
        </p:spPr>
        <p:txBody>
          <a:bodyPr anchorCtr="1" anchor="t" bIns="44275" lIns="90350" spcFirstLastPara="1" rIns="90350" wrap="square" tIns="44275">
            <a:noAutofit/>
          </a:bodyPr>
          <a:lstStyle/>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Product requirements</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Requirements which specify that the delivered product must behave in a particular way e.g. execution speed, reliability, etc.</a:t>
            </a:r>
            <a:endParaRPr b="0" i="0" sz="1800" u="none" cap="none" strike="noStrike">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Organisational requirements</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Requirements which are a consequence of organisational policies and procedures e.g. process standards used, implementation requirements, etc.</a:t>
            </a:r>
            <a:endParaRPr b="0" i="0" sz="1800" u="none" cap="none" strike="noStrike">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External requirements</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Requirements which arise from factors which are external to the system and its development process e.g. interoperability requirements, legislative requirements, etc.</a:t>
            </a:r>
            <a:endParaRPr b="0" i="0" sz="1800" u="none" cap="none" strike="noStrike">
              <a:solidFill>
                <a:schemeClr val="dk1"/>
              </a:solidFill>
              <a:latin typeface="Calibri"/>
              <a:ea typeface="Calibri"/>
              <a:cs typeface="Calibri"/>
              <a:sym typeface="Calibri"/>
            </a:endParaRPr>
          </a:p>
        </p:txBody>
      </p:sp>
      <p:sp>
        <p:nvSpPr>
          <p:cNvPr id="323" name="Google Shape;323;p34"/>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5"/>
          <p:cNvSpPr/>
          <p:nvPr/>
        </p:nvSpPr>
        <p:spPr>
          <a:xfrm>
            <a:off x="457200" y="274680"/>
            <a:ext cx="7291440" cy="114120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Examples of nonfunctional requirements in the MHC-PMS </a:t>
            </a:r>
            <a:endParaRPr sz="1800">
              <a:solidFill>
                <a:schemeClr val="dk1"/>
              </a:solidFill>
              <a:latin typeface="Calibri"/>
              <a:ea typeface="Calibri"/>
              <a:cs typeface="Calibri"/>
              <a:sym typeface="Calibri"/>
            </a:endParaRPr>
          </a:p>
        </p:txBody>
      </p:sp>
      <p:graphicFrame>
        <p:nvGraphicFramePr>
          <p:cNvPr id="329" name="Google Shape;329;p35"/>
          <p:cNvGraphicFramePr/>
          <p:nvPr/>
        </p:nvGraphicFramePr>
        <p:xfrm>
          <a:off x="968760" y="1905120"/>
          <a:ext cx="3000000" cy="3000000"/>
        </p:xfrm>
        <a:graphic>
          <a:graphicData uri="http://schemas.openxmlformats.org/drawingml/2006/table">
            <a:tbl>
              <a:tblPr>
                <a:noFill/>
                <a:tableStyleId>{FA417998-51A4-4FD3-8344-115FCE8B26E9}</a:tableStyleId>
              </a:tblPr>
              <a:tblGrid>
                <a:gridCol w="6779875"/>
              </a:tblGrid>
              <a:tr h="4493875">
                <a:tc>
                  <a:txBody>
                    <a:bodyPr/>
                    <a:lstStyle/>
                    <a:p>
                      <a:pPr indent="0" lvl="0" marL="0" marR="0" rtl="0" algn="l">
                        <a:lnSpc>
                          <a:spcPct val="100000"/>
                        </a:lnSpc>
                        <a:spcBef>
                          <a:spcPts val="0"/>
                        </a:spcBef>
                        <a:spcAft>
                          <a:spcPts val="0"/>
                        </a:spcAft>
                        <a:buNone/>
                      </a:pPr>
                      <a:r>
                        <a:rPr b="1" lang="en-US" sz="1800">
                          <a:solidFill>
                            <a:srgbClr val="000000"/>
                          </a:solidFill>
                          <a:latin typeface="Calibri"/>
                          <a:ea typeface="Calibri"/>
                          <a:cs typeface="Calibri"/>
                          <a:sym typeface="Calibri"/>
                        </a:rPr>
                        <a:t>Product requirement</a:t>
                      </a:r>
                      <a:endParaRPr sz="1800"/>
                    </a:p>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The MHC-PMS shall be available to all clinics during normal working hours (Mon–Fri, 0830–17.30). Downtime within normal working hours shall not exceed five seconds in any one day.</a:t>
                      </a:r>
                      <a:endParaRPr sz="1800"/>
                    </a:p>
                    <a:p>
                      <a:pPr indent="0" lvl="0" marL="0" marR="0" rtl="0" algn="l">
                        <a:lnSpc>
                          <a:spcPct val="100000"/>
                        </a:lnSpc>
                        <a:spcBef>
                          <a:spcPts val="0"/>
                        </a:spcBef>
                        <a:spcAft>
                          <a:spcPts val="0"/>
                        </a:spcAft>
                        <a:buNone/>
                      </a:pPr>
                      <a:r>
                        <a:t/>
                      </a:r>
                      <a:endParaRPr sz="1800"/>
                    </a:p>
                    <a:p>
                      <a:pPr indent="0" lvl="0" marL="0" marR="0" rtl="0" algn="l">
                        <a:lnSpc>
                          <a:spcPct val="100000"/>
                        </a:lnSpc>
                        <a:spcBef>
                          <a:spcPts val="0"/>
                        </a:spcBef>
                        <a:spcAft>
                          <a:spcPts val="0"/>
                        </a:spcAft>
                        <a:buNone/>
                      </a:pPr>
                      <a:r>
                        <a:rPr b="1" lang="en-US" sz="1800">
                          <a:solidFill>
                            <a:srgbClr val="000000"/>
                          </a:solidFill>
                          <a:latin typeface="Calibri"/>
                          <a:ea typeface="Calibri"/>
                          <a:cs typeface="Calibri"/>
                          <a:sym typeface="Calibri"/>
                        </a:rPr>
                        <a:t>Organizational requirement</a:t>
                      </a:r>
                      <a:endParaRPr sz="1800"/>
                    </a:p>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Users of the MHC-PMS system shall authenticate themselves using their health authority identity card.</a:t>
                      </a:r>
                      <a:endParaRPr sz="1800"/>
                    </a:p>
                    <a:p>
                      <a:pPr indent="0" lvl="0" marL="0" marR="0" rtl="0" algn="l">
                        <a:lnSpc>
                          <a:spcPct val="100000"/>
                        </a:lnSpc>
                        <a:spcBef>
                          <a:spcPts val="0"/>
                        </a:spcBef>
                        <a:spcAft>
                          <a:spcPts val="0"/>
                        </a:spcAft>
                        <a:buNone/>
                      </a:pPr>
                      <a:r>
                        <a:t/>
                      </a:r>
                      <a:endParaRPr sz="1800"/>
                    </a:p>
                    <a:p>
                      <a:pPr indent="0" lvl="0" marL="0" marR="0" rtl="0" algn="l">
                        <a:lnSpc>
                          <a:spcPct val="100000"/>
                        </a:lnSpc>
                        <a:spcBef>
                          <a:spcPts val="0"/>
                        </a:spcBef>
                        <a:spcAft>
                          <a:spcPts val="0"/>
                        </a:spcAft>
                        <a:buNone/>
                      </a:pPr>
                      <a:r>
                        <a:rPr b="1" lang="en-US" sz="1800">
                          <a:solidFill>
                            <a:srgbClr val="000000"/>
                          </a:solidFill>
                          <a:latin typeface="Calibri"/>
                          <a:ea typeface="Calibri"/>
                          <a:cs typeface="Calibri"/>
                          <a:sym typeface="Calibri"/>
                        </a:rPr>
                        <a:t>External requirement</a:t>
                      </a:r>
                      <a:endParaRPr sz="1800"/>
                    </a:p>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The system shall implement patient privacy provisions as set out in HStan-03-2006-priv. </a:t>
                      </a:r>
                      <a:endParaRPr sz="1800"/>
                    </a:p>
                    <a:p>
                      <a:pPr indent="0" lvl="0" marL="0" marR="0" rtl="0" algn="l">
                        <a:lnSpc>
                          <a:spcPct val="100000"/>
                        </a:lnSpc>
                        <a:spcBef>
                          <a:spcPts val="0"/>
                        </a:spcBef>
                        <a:spcAft>
                          <a:spcPts val="0"/>
                        </a:spcAft>
                        <a:buNone/>
                      </a:pPr>
                      <a:r>
                        <a:t/>
                      </a:r>
                      <a:endParaRPr sz="1800"/>
                    </a:p>
                  </a:txBody>
                  <a:tcPr marT="45725" marB="45725" marR="91450" marL="91450"/>
                </a:tc>
              </a:tr>
            </a:tbl>
          </a:graphicData>
        </a:graphic>
      </p:graphicFrame>
      <p:sp>
        <p:nvSpPr>
          <p:cNvPr id="330" name="Google Shape;330;p35"/>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6"/>
          <p:cNvSpPr/>
          <p:nvPr/>
        </p:nvSpPr>
        <p:spPr>
          <a:xfrm>
            <a:off x="457200" y="274680"/>
            <a:ext cx="8227800" cy="11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6"/>
          <p:cNvSpPr/>
          <p:nvPr/>
        </p:nvSpPr>
        <p:spPr>
          <a:xfrm>
            <a:off x="152280" y="1295280"/>
            <a:ext cx="8761320" cy="51796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6"/>
          <p:cNvSpPr txBox="1"/>
          <p:nvPr/>
        </p:nvSpPr>
        <p:spPr>
          <a:xfrm>
            <a:off x="457200" y="273600"/>
            <a:ext cx="8229240" cy="114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3600">
                <a:solidFill>
                  <a:srgbClr val="000000"/>
                </a:solidFill>
                <a:latin typeface="Calibri"/>
                <a:ea typeface="Calibri"/>
                <a:cs typeface="Calibri"/>
                <a:sym typeface="Calibri"/>
              </a:rPr>
              <a:t>Requirements for critical systems</a:t>
            </a:r>
            <a:endParaRPr sz="1800">
              <a:solidFill>
                <a:schemeClr val="dk1"/>
              </a:solidFill>
              <a:latin typeface="Calibri"/>
              <a:ea typeface="Calibri"/>
              <a:cs typeface="Calibri"/>
              <a:sym typeface="Calibri"/>
            </a:endParaRPr>
          </a:p>
        </p:txBody>
      </p:sp>
      <p:sp>
        <p:nvSpPr>
          <p:cNvPr id="338" name="Google Shape;338;p36"/>
          <p:cNvSpPr txBox="1"/>
          <p:nvPr/>
        </p:nvSpPr>
        <p:spPr>
          <a:xfrm>
            <a:off x="457200" y="1604520"/>
            <a:ext cx="8229240" cy="397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3200">
                <a:solidFill>
                  <a:srgbClr val="000000"/>
                </a:solidFill>
                <a:latin typeface="Calibri"/>
                <a:ea typeface="Calibri"/>
                <a:cs typeface="Calibri"/>
                <a:sym typeface="Calibri"/>
              </a:rPr>
              <a:t>Non-functional (product) requirements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800">
                <a:solidFill>
                  <a:srgbClr val="000000"/>
                </a:solidFill>
                <a:latin typeface="Calibri"/>
                <a:ea typeface="Calibri"/>
                <a:cs typeface="Calibri"/>
                <a:sym typeface="Calibri"/>
              </a:rPr>
              <a:t>There are three principal types of critical system: </a:t>
            </a:r>
            <a:r>
              <a:rPr lang="en-US" sz="2800" u="sng">
                <a:solidFill>
                  <a:srgbClr val="000000"/>
                </a:solidFill>
                <a:latin typeface="Calibri"/>
                <a:ea typeface="Calibri"/>
                <a:cs typeface="Calibri"/>
                <a:sym typeface="Calibri"/>
              </a:rPr>
              <a:t>Business critical systems </a:t>
            </a:r>
            <a:r>
              <a:rPr lang="en-US" sz="2800">
                <a:solidFill>
                  <a:srgbClr val="000000"/>
                </a:solidFill>
                <a:latin typeface="Calibri"/>
                <a:ea typeface="Calibri"/>
                <a:cs typeface="Calibri"/>
                <a:sym typeface="Calibri"/>
              </a:rPr>
              <a:t>:  Failure leads to significant economic damage.</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800">
                <a:solidFill>
                  <a:srgbClr val="000000"/>
                </a:solidFill>
                <a:latin typeface="Calibri"/>
                <a:ea typeface="Calibri"/>
                <a:cs typeface="Calibri"/>
                <a:sym typeface="Calibri"/>
              </a:rPr>
              <a:t>  </a:t>
            </a:r>
            <a:r>
              <a:rPr lang="en-US" sz="2800" u="sng">
                <a:solidFill>
                  <a:srgbClr val="000000"/>
                </a:solidFill>
                <a:latin typeface="Calibri"/>
                <a:ea typeface="Calibri"/>
                <a:cs typeface="Calibri"/>
                <a:sym typeface="Calibri"/>
              </a:rPr>
              <a:t>Mission critical systems</a:t>
            </a:r>
            <a:r>
              <a:rPr lang="en-US" sz="2800">
                <a:solidFill>
                  <a:srgbClr val="000000"/>
                </a:solidFill>
                <a:latin typeface="Calibri"/>
                <a:ea typeface="Calibri"/>
                <a:cs typeface="Calibri"/>
                <a:sym typeface="Calibri"/>
              </a:rPr>
              <a:t> : Failure leads to the abortion of a mission.</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800">
                <a:solidFill>
                  <a:srgbClr val="000000"/>
                </a:solidFill>
                <a:latin typeface="Calibri"/>
                <a:ea typeface="Calibri"/>
                <a:cs typeface="Calibri"/>
                <a:sym typeface="Calibri"/>
              </a:rPr>
              <a:t>  </a:t>
            </a:r>
            <a:r>
              <a:rPr lang="en-US" sz="2800" u="sng">
                <a:solidFill>
                  <a:srgbClr val="000000"/>
                </a:solidFill>
                <a:latin typeface="Calibri"/>
                <a:ea typeface="Calibri"/>
                <a:cs typeface="Calibri"/>
                <a:sym typeface="Calibri"/>
              </a:rPr>
              <a:t>Safety critical systems:</a:t>
            </a:r>
            <a:r>
              <a:rPr lang="en-US" sz="2800">
                <a:solidFill>
                  <a:srgbClr val="000000"/>
                </a:solidFill>
                <a:latin typeface="Calibri"/>
                <a:ea typeface="Calibri"/>
                <a:cs typeface="Calibri"/>
                <a:sym typeface="Calibri"/>
              </a:rPr>
              <a:t> Failure endangers human life.</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7"/>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Requirements for critical systems</a:t>
            </a:r>
            <a:endParaRPr sz="1800">
              <a:solidFill>
                <a:schemeClr val="dk1"/>
              </a:solidFill>
              <a:latin typeface="Calibri"/>
              <a:ea typeface="Calibri"/>
              <a:cs typeface="Calibri"/>
              <a:sym typeface="Calibri"/>
            </a:endParaRPr>
          </a:p>
        </p:txBody>
      </p:sp>
      <p:sp>
        <p:nvSpPr>
          <p:cNvPr id="344" name="Google Shape;344;p37"/>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The principal non-functional constraints which are relevant to critical systems:  </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Reliability  </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Performance </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 Security </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 Safety  </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Usability</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8"/>
          <p:cNvSpPr/>
          <p:nvPr/>
        </p:nvSpPr>
        <p:spPr>
          <a:xfrm>
            <a:off x="457200" y="274680"/>
            <a:ext cx="8227800" cy="790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Reliability</a:t>
            </a:r>
            <a:endParaRPr sz="1800">
              <a:solidFill>
                <a:schemeClr val="dk1"/>
              </a:solidFill>
              <a:latin typeface="Calibri"/>
              <a:ea typeface="Calibri"/>
              <a:cs typeface="Calibri"/>
              <a:sym typeface="Calibri"/>
            </a:endParaRPr>
          </a:p>
        </p:txBody>
      </p:sp>
      <p:sp>
        <p:nvSpPr>
          <p:cNvPr id="350" name="Google Shape;350;p38"/>
          <p:cNvSpPr/>
          <p:nvPr/>
        </p:nvSpPr>
        <p:spPr>
          <a:xfrm>
            <a:off x="457200" y="1219320"/>
            <a:ext cx="8227800" cy="490500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Reliability is the ability of a system to perform its required functions under stated conditions for a specific period of time.</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Can be considered under two separate headings: </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 Availability - is the system available for service when requested by end-users.</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Failure rate - how often does the system fail to deliver the service as expected by end-users.</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9"/>
          <p:cNvSpPr/>
          <p:nvPr/>
        </p:nvSpPr>
        <p:spPr>
          <a:xfrm>
            <a:off x="457200" y="274680"/>
            <a:ext cx="8227800" cy="63792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Performance</a:t>
            </a:r>
            <a:endParaRPr sz="1800">
              <a:solidFill>
                <a:schemeClr val="dk1"/>
              </a:solidFill>
              <a:latin typeface="Calibri"/>
              <a:ea typeface="Calibri"/>
              <a:cs typeface="Calibri"/>
              <a:sym typeface="Calibri"/>
            </a:endParaRPr>
          </a:p>
        </p:txBody>
      </p:sp>
      <p:sp>
        <p:nvSpPr>
          <p:cNvPr id="356" name="Google Shape;356;p39"/>
          <p:cNvSpPr/>
          <p:nvPr/>
        </p:nvSpPr>
        <p:spPr>
          <a:xfrm>
            <a:off x="457200" y="1143000"/>
            <a:ext cx="8227800" cy="55609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Performance requirements concern the speed of operation of a system.</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Types of performance requirements: </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Response requirements (how quickly the system reacts to a user input)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Throughput requirements (how much the system can accomplish within a specified amount of time)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Availability requirements (is the system available for service when requested by end-users)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0"/>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Product Requirements Examples</a:t>
            </a:r>
            <a:endParaRPr sz="1800">
              <a:solidFill>
                <a:schemeClr val="dk1"/>
              </a:solidFill>
              <a:latin typeface="Calibri"/>
              <a:ea typeface="Calibri"/>
              <a:cs typeface="Calibri"/>
              <a:sym typeface="Calibri"/>
            </a:endParaRPr>
          </a:p>
        </p:txBody>
      </p:sp>
      <p:sp>
        <p:nvSpPr>
          <p:cNvPr id="362" name="Google Shape;362;p40"/>
          <p:cNvSpPr/>
          <p:nvPr/>
        </p:nvSpPr>
        <p:spPr>
          <a:xfrm>
            <a:off x="457200" y="1295280"/>
            <a:ext cx="8456400" cy="482904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The System service X shall have an availability of 999/1000 or 99%. This is a </a:t>
            </a:r>
            <a:r>
              <a:rPr lang="en-US" sz="3200" u="sng">
                <a:solidFill>
                  <a:srgbClr val="000000"/>
                </a:solidFill>
                <a:latin typeface="Calibri"/>
                <a:ea typeface="Calibri"/>
                <a:cs typeface="Calibri"/>
                <a:sym typeface="Calibri"/>
              </a:rPr>
              <a:t>reliability requirement</a:t>
            </a:r>
            <a:r>
              <a:rPr lang="en-US" sz="3200">
                <a:solidFill>
                  <a:srgbClr val="000000"/>
                </a:solidFill>
                <a:latin typeface="Calibri"/>
                <a:ea typeface="Calibri"/>
                <a:cs typeface="Calibri"/>
                <a:sym typeface="Calibri"/>
              </a:rPr>
              <a:t> which means that out of every 1000 requests for this service, 999 must be satisfied. </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 System Y shall process a minimum of 8 transactions per second. This is a </a:t>
            </a:r>
            <a:r>
              <a:rPr lang="en-US" sz="3200" u="sng">
                <a:solidFill>
                  <a:srgbClr val="000000"/>
                </a:solidFill>
                <a:latin typeface="Calibri"/>
                <a:ea typeface="Calibri"/>
                <a:cs typeface="Calibri"/>
                <a:sym typeface="Calibri"/>
              </a:rPr>
              <a:t>performance </a:t>
            </a:r>
            <a:r>
              <a:rPr lang="en-US" sz="3200">
                <a:solidFill>
                  <a:srgbClr val="000000"/>
                </a:solidFill>
                <a:latin typeface="Calibri"/>
                <a:ea typeface="Calibri"/>
                <a:cs typeface="Calibri"/>
                <a:sym typeface="Calibri"/>
              </a:rPr>
              <a:t>requirement.</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1"/>
          <p:cNvSpPr/>
          <p:nvPr/>
        </p:nvSpPr>
        <p:spPr>
          <a:xfrm>
            <a:off x="457200" y="274680"/>
            <a:ext cx="8227800" cy="63792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Security</a:t>
            </a:r>
            <a:endParaRPr sz="1800">
              <a:solidFill>
                <a:schemeClr val="dk1"/>
              </a:solidFill>
              <a:latin typeface="Calibri"/>
              <a:ea typeface="Calibri"/>
              <a:cs typeface="Calibri"/>
              <a:sym typeface="Calibri"/>
            </a:endParaRPr>
          </a:p>
        </p:txBody>
      </p:sp>
      <p:sp>
        <p:nvSpPr>
          <p:cNvPr id="368" name="Google Shape;368;p41"/>
          <p:cNvSpPr/>
          <p:nvPr/>
        </p:nvSpPr>
        <p:spPr>
          <a:xfrm>
            <a:off x="457200" y="914400"/>
            <a:ext cx="8227800" cy="52099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Security requirements are included in a system to ensure:  </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Un authorised access to the system and its data is not allowed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Ensure the integrity of the system from accidental or malicious damage.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800">
                <a:solidFill>
                  <a:srgbClr val="000000"/>
                </a:solidFill>
                <a:latin typeface="Calibri"/>
                <a:ea typeface="Calibri"/>
                <a:cs typeface="Calibri"/>
                <a:sym typeface="Calibri"/>
              </a:rPr>
              <a:t>Examples of security requirements are: </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The access permissions for system data may only be changed by the system’s data administrator.</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 All system data must be backed up every 24 hours and the backup copies stored in a secure location which is not in the same building as the system.</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 All external communications between the system’s data server and clients must be encrypted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2"/>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Usability</a:t>
            </a:r>
            <a:endParaRPr sz="1800">
              <a:solidFill>
                <a:schemeClr val="dk1"/>
              </a:solidFill>
              <a:latin typeface="Calibri"/>
              <a:ea typeface="Calibri"/>
              <a:cs typeface="Calibri"/>
              <a:sym typeface="Calibri"/>
            </a:endParaRPr>
          </a:p>
        </p:txBody>
      </p:sp>
      <p:sp>
        <p:nvSpPr>
          <p:cNvPr id="374" name="Google Shape;374;p42"/>
          <p:cNvSpPr/>
          <p:nvPr/>
        </p:nvSpPr>
        <p:spPr>
          <a:xfrm>
            <a:off x="457200" y="1219320"/>
            <a:ext cx="8227800" cy="490500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Usability is the ease with which a user can learn to operate, prepare inputs for, and interpret outputs of system or component.</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Usability requirements include: </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Well-structured user manuals 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Informative error messages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Help facilities 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Well-formed graphical user interfaces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3"/>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Safety</a:t>
            </a:r>
            <a:endParaRPr sz="1800">
              <a:solidFill>
                <a:schemeClr val="dk1"/>
              </a:solidFill>
              <a:latin typeface="Calibri"/>
              <a:ea typeface="Calibri"/>
              <a:cs typeface="Calibri"/>
              <a:sym typeface="Calibri"/>
            </a:endParaRPr>
          </a:p>
        </p:txBody>
      </p:sp>
      <p:sp>
        <p:nvSpPr>
          <p:cNvPr id="380" name="Google Shape;380;p43"/>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Safety requirements are the ‘shall not’ requirements which exclude unsafe situations from the possible solution space of the system</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4"/>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Examples of safety requirements</a:t>
            </a:r>
            <a:endParaRPr sz="1800">
              <a:solidFill>
                <a:schemeClr val="dk1"/>
              </a:solidFill>
              <a:latin typeface="Calibri"/>
              <a:ea typeface="Calibri"/>
              <a:cs typeface="Calibri"/>
              <a:sym typeface="Calibri"/>
            </a:endParaRPr>
          </a:p>
        </p:txBody>
      </p:sp>
      <p:sp>
        <p:nvSpPr>
          <p:cNvPr id="386" name="Google Shape;386;p44"/>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The violated system shall not permit any further operation unless the operator guard is in place.</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The system shall not operate if the external temperature is below 4 degrees Celsius.</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The system should not longer operate in case of fire (e.g. an elevator)</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5"/>
          <p:cNvSpPr/>
          <p:nvPr/>
        </p:nvSpPr>
        <p:spPr>
          <a:xfrm>
            <a:off x="457200" y="274680"/>
            <a:ext cx="8227800" cy="5616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Supportability</a:t>
            </a:r>
            <a:endParaRPr sz="1800">
              <a:solidFill>
                <a:schemeClr val="dk1"/>
              </a:solidFill>
              <a:latin typeface="Calibri"/>
              <a:ea typeface="Calibri"/>
              <a:cs typeface="Calibri"/>
              <a:sym typeface="Calibri"/>
            </a:endParaRPr>
          </a:p>
        </p:txBody>
      </p:sp>
      <p:sp>
        <p:nvSpPr>
          <p:cNvPr id="392" name="Google Shape;392;p45"/>
          <p:cNvSpPr/>
          <p:nvPr/>
        </p:nvSpPr>
        <p:spPr>
          <a:xfrm>
            <a:off x="228600" y="838080"/>
            <a:ext cx="8608680" cy="528624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Supportability requirements are concerned with the ease of changes to the system after deployment. Classes:</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Adaptability:  The ability to change the system to deal with additional application domain concepts (adaptivity = autonomous adaptation)</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Maintainability:  The ability to change the system to deal with new technology or to fix defects.</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Portability:  The ease with which a system or component can be transferred from one environment to another.</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6"/>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Relationships between user needs, concerns and NFRs</a:t>
            </a:r>
            <a:endParaRPr sz="1800">
              <a:solidFill>
                <a:schemeClr val="dk1"/>
              </a:solidFill>
              <a:latin typeface="Calibri"/>
              <a:ea typeface="Calibri"/>
              <a:cs typeface="Calibri"/>
              <a:sym typeface="Calibri"/>
            </a:endParaRPr>
          </a:p>
        </p:txBody>
      </p:sp>
      <p:graphicFrame>
        <p:nvGraphicFramePr>
          <p:cNvPr id="398" name="Google Shape;398;p46"/>
          <p:cNvGraphicFramePr/>
          <p:nvPr/>
        </p:nvGraphicFramePr>
        <p:xfrm>
          <a:off x="380880" y="1600200"/>
          <a:ext cx="3000000" cy="3000000"/>
        </p:xfrm>
        <a:graphic>
          <a:graphicData uri="http://schemas.openxmlformats.org/drawingml/2006/table">
            <a:tbl>
              <a:tblPr>
                <a:noFill/>
                <a:tableStyleId>{FA417998-51A4-4FD3-8344-115FCE8B26E9}</a:tableStyleId>
              </a:tblPr>
              <a:tblGrid>
                <a:gridCol w="2050550"/>
                <a:gridCol w="3486250"/>
                <a:gridCol w="2767325"/>
              </a:tblGrid>
              <a:tr h="628200">
                <a:tc>
                  <a:txBody>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User’s need</a:t>
                      </a:r>
                      <a:endParaRPr sz="1800"/>
                    </a:p>
                  </a:txBody>
                  <a:tcPr marT="45725" marB="45725" marR="91450" marL="91450"/>
                </a:tc>
                <a:tc>
                  <a:txBody>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User’s concern </a:t>
                      </a:r>
                      <a:endParaRPr sz="1800"/>
                    </a:p>
                  </a:txBody>
                  <a:tcPr marT="45725" marB="45725" marR="91450" marL="91450"/>
                </a:tc>
                <a:tc>
                  <a:txBody>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Non-functional requirement</a:t>
                      </a:r>
                      <a:endParaRPr sz="1800"/>
                    </a:p>
                  </a:txBody>
                  <a:tcPr marT="45725" marB="45725" marR="91450" marL="91450"/>
                </a:tc>
              </a:tr>
              <a:tr h="1055525">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Function</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Ease of use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 Unauthorised access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Likelihood of failure</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Usability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 Security                  </a:t>
                      </a:r>
                      <a:endParaRPr sz="1800">
                        <a:latin typeface="Calibri"/>
                        <a:ea typeface="Calibri"/>
                        <a:cs typeface="Calibri"/>
                        <a:sym typeface="Calibri"/>
                      </a:endParaRPr>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Reliability</a:t>
                      </a:r>
                      <a:endParaRPr sz="1800"/>
                    </a:p>
                  </a:txBody>
                  <a:tcPr marT="45725" marB="45725" marR="91450" marL="91450"/>
                </a:tc>
              </a:tr>
              <a:tr h="8964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Performance</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 Resource utilization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Performance verification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Ease of interfacing</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Efficiency</a:t>
                      </a:r>
                      <a:endParaRPr sz="1800"/>
                    </a:p>
                    <a:p>
                      <a:pPr indent="-114300" lvl="0" marL="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latin typeface="Calibri"/>
                          <a:ea typeface="Calibri"/>
                          <a:cs typeface="Calibri"/>
                          <a:sym typeface="Calibri"/>
                        </a:rPr>
                        <a:t>Verifiability </a:t>
                      </a:r>
                      <a:endParaRPr sz="1800"/>
                    </a:p>
                    <a:p>
                      <a:pPr indent="-114300" lvl="0" marL="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latin typeface="Calibri"/>
                          <a:ea typeface="Calibri"/>
                          <a:cs typeface="Calibri"/>
                          <a:sym typeface="Calibri"/>
                        </a:rPr>
                        <a:t>Interoperability</a:t>
                      </a:r>
                      <a:endParaRPr sz="1800"/>
                    </a:p>
                  </a:txBody>
                  <a:tcPr marT="45725" marB="45725" marR="91450" marL="91450"/>
                </a:tc>
              </a:tr>
              <a:tr h="17010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Change</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Ease of repair</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Ease of change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Ease of transport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Ease of expanding or upgrading capacity or performance ?</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latin typeface="Calibri"/>
                          <a:ea typeface="Calibri"/>
                          <a:cs typeface="Calibri"/>
                          <a:sym typeface="Calibri"/>
                        </a:rPr>
                        <a:t>Maintainability</a:t>
                      </a:r>
                      <a:endParaRPr sz="1800"/>
                    </a:p>
                    <a:p>
                      <a:pPr indent="-114300" lvl="0" marL="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latin typeface="Calibri"/>
                          <a:ea typeface="Calibri"/>
                          <a:cs typeface="Calibri"/>
                          <a:sym typeface="Calibri"/>
                        </a:rPr>
                        <a:t> Flexibility</a:t>
                      </a:r>
                      <a:endParaRPr sz="1800"/>
                    </a:p>
                    <a:p>
                      <a:pPr indent="-114300" lvl="0" marL="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latin typeface="Calibri"/>
                          <a:ea typeface="Calibri"/>
                          <a:cs typeface="Calibri"/>
                          <a:sym typeface="Calibri"/>
                        </a:rPr>
                        <a:t> Portability</a:t>
                      </a:r>
                      <a:endParaRPr sz="1800"/>
                    </a:p>
                    <a:p>
                      <a:pPr indent="-114300" lvl="0" marL="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latin typeface="Calibri"/>
                          <a:ea typeface="Calibri"/>
                          <a:cs typeface="Calibri"/>
                          <a:sym typeface="Calibri"/>
                        </a:rPr>
                        <a:t>Expandability</a:t>
                      </a:r>
                      <a:endParaRPr sz="1800"/>
                    </a:p>
                  </a:txBody>
                  <a:tcPr marT="45725" marB="45725" marR="91450" marL="91450"/>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7"/>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Examples of measurable metrics for Non-functional requirements</a:t>
            </a:r>
            <a:endParaRPr sz="1800">
              <a:solidFill>
                <a:schemeClr val="dk1"/>
              </a:solidFill>
              <a:latin typeface="Calibri"/>
              <a:ea typeface="Calibri"/>
              <a:cs typeface="Calibri"/>
              <a:sym typeface="Calibri"/>
            </a:endParaRPr>
          </a:p>
        </p:txBody>
      </p:sp>
      <p:graphicFrame>
        <p:nvGraphicFramePr>
          <p:cNvPr id="404" name="Google Shape;404;p47"/>
          <p:cNvGraphicFramePr/>
          <p:nvPr/>
        </p:nvGraphicFramePr>
        <p:xfrm>
          <a:off x="457200" y="1600200"/>
          <a:ext cx="3000000" cy="3000000"/>
        </p:xfrm>
        <a:graphic>
          <a:graphicData uri="http://schemas.openxmlformats.org/drawingml/2006/table">
            <a:tbl>
              <a:tblPr>
                <a:noFill/>
                <a:tableStyleId>{FA417998-51A4-4FD3-8344-115FCE8B26E9}</a:tableStyleId>
              </a:tblPr>
              <a:tblGrid>
                <a:gridCol w="4114075"/>
                <a:gridCol w="4114075"/>
              </a:tblGrid>
              <a:tr h="628200">
                <a:tc>
                  <a:txBody>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Property</a:t>
                      </a:r>
                      <a:endParaRPr sz="1800"/>
                    </a:p>
                  </a:txBody>
                  <a:tcPr marT="45725" marB="45725" marR="91450" marL="91450"/>
                </a:tc>
                <a:tc>
                  <a:txBody>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Metric</a:t>
                      </a:r>
                      <a:endParaRPr sz="1800"/>
                    </a:p>
                    <a:p>
                      <a:pPr indent="0" lvl="0" marL="0" marR="0" rtl="0" algn="l">
                        <a:lnSpc>
                          <a:spcPct val="100000"/>
                        </a:lnSpc>
                        <a:spcBef>
                          <a:spcPts val="0"/>
                        </a:spcBef>
                        <a:spcAft>
                          <a:spcPts val="0"/>
                        </a:spcAft>
                        <a:buNone/>
                      </a:pPr>
                      <a:r>
                        <a:t/>
                      </a:r>
                      <a:endParaRPr sz="1800"/>
                    </a:p>
                  </a:txBody>
                  <a:tcPr marT="45725" marB="45725" marR="91450" marL="91450"/>
                </a:tc>
              </a:tr>
              <a:tr h="8964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Performance</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Processed transactions per second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Response time to user input</a:t>
                      </a:r>
                      <a:endParaRPr sz="1800"/>
                    </a:p>
                  </a:txBody>
                  <a:tcPr marT="45725" marB="45725" marR="91450" marL="91450"/>
                </a:tc>
              </a:tr>
              <a:tr h="6282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Reliability</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MTTF, MTTR, MTBF</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Rate of occurrence of failure</a:t>
                      </a:r>
                      <a:endParaRPr sz="1800"/>
                    </a:p>
                  </a:txBody>
                  <a:tcPr marT="45725" marB="45725" marR="91450" marL="91450"/>
                </a:tc>
              </a:tr>
              <a:tr h="3600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Availability</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Probability of failure on demand </a:t>
                      </a:r>
                      <a:endParaRPr sz="1800"/>
                    </a:p>
                  </a:txBody>
                  <a:tcPr marT="45725" marB="45725" marR="91450" marL="91450"/>
                </a:tc>
              </a:tr>
              <a:tr h="3600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Size</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Kbytes, Mbytes </a:t>
                      </a:r>
                      <a:endParaRPr sz="1800"/>
                    </a:p>
                  </a:txBody>
                  <a:tcPr marT="45725" marB="45725" marR="91450" marL="91450"/>
                </a:tc>
              </a:tr>
              <a:tr h="8964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Usability</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Time taken to learn the software</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Number of errors made by user</a:t>
                      </a:r>
                      <a:endParaRPr sz="1800"/>
                    </a:p>
                  </a:txBody>
                  <a:tcPr marT="45725" marB="45725" marR="91450" marL="91450"/>
                </a:tc>
              </a:tr>
              <a:tr h="6282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Robustness</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Time to restart the system after failure</a:t>
                      </a:r>
                      <a:endParaRPr sz="1800"/>
                    </a:p>
                  </a:txBody>
                  <a:tcPr marT="45725" marB="45725" marR="91450" marL="91450"/>
                </a:tc>
              </a:tr>
              <a:tr h="4316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8"/>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3200">
                <a:solidFill>
                  <a:srgbClr val="000000"/>
                </a:solidFill>
                <a:latin typeface="Calibri"/>
                <a:ea typeface="Calibri"/>
                <a:cs typeface="Calibri"/>
                <a:sym typeface="Calibri"/>
              </a:rPr>
              <a:t>Nonfunctional Requirements:</a:t>
            </a:r>
            <a:r>
              <a:rPr lang="en-US" sz="4400">
                <a:solidFill>
                  <a:srgbClr val="000000"/>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2800">
                <a:solidFill>
                  <a:srgbClr val="000000"/>
                </a:solidFill>
                <a:latin typeface="Calibri"/>
                <a:ea typeface="Calibri"/>
                <a:cs typeface="Calibri"/>
                <a:sym typeface="Calibri"/>
              </a:rPr>
              <a:t>Trigger Questions</a:t>
            </a:r>
            <a:endParaRPr sz="1800">
              <a:solidFill>
                <a:schemeClr val="dk1"/>
              </a:solidFill>
              <a:latin typeface="Calibri"/>
              <a:ea typeface="Calibri"/>
              <a:cs typeface="Calibri"/>
              <a:sym typeface="Calibri"/>
            </a:endParaRPr>
          </a:p>
        </p:txBody>
      </p:sp>
      <p:sp>
        <p:nvSpPr>
          <p:cNvPr id="410" name="Google Shape;410;p48"/>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Performance characteristics </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Are there any speed, throughput, or response time constraints on the system?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Are there size or capacity constraints on the data to be processed by the system?</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9"/>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Nonfunctional Requirements: Trigger Questions</a:t>
            </a:r>
            <a:endParaRPr sz="1800">
              <a:solidFill>
                <a:schemeClr val="dk1"/>
              </a:solidFill>
              <a:latin typeface="Calibri"/>
              <a:ea typeface="Calibri"/>
              <a:cs typeface="Calibri"/>
              <a:sym typeface="Calibri"/>
            </a:endParaRPr>
          </a:p>
        </p:txBody>
      </p:sp>
      <p:sp>
        <p:nvSpPr>
          <p:cNvPr id="416" name="Google Shape;416;p49"/>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Quality issues:</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 What are the requirements for reliability? 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What is the maximum time for restarting the system after a failure? 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What is the acceptable system downtime per 24-hour period?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0"/>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Nonfunctional Requirements: Trigger Questions</a:t>
            </a:r>
            <a:endParaRPr sz="1800">
              <a:solidFill>
                <a:schemeClr val="dk1"/>
              </a:solidFill>
              <a:latin typeface="Calibri"/>
              <a:ea typeface="Calibri"/>
              <a:cs typeface="Calibri"/>
              <a:sym typeface="Calibri"/>
            </a:endParaRPr>
          </a:p>
        </p:txBody>
      </p:sp>
      <p:sp>
        <p:nvSpPr>
          <p:cNvPr id="422" name="Google Shape;422;p50"/>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Resources and Management Issues:</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 How often will the system be backed up? 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Who will be responsible for the back up? 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Who is responsible for system installation?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Who will be responsible for system maintenance?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1"/>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Portability</a:t>
            </a:r>
            <a:endParaRPr sz="1800">
              <a:solidFill>
                <a:schemeClr val="dk1"/>
              </a:solidFill>
              <a:latin typeface="Calibri"/>
              <a:ea typeface="Calibri"/>
              <a:cs typeface="Calibri"/>
              <a:sym typeface="Calibri"/>
            </a:endParaRPr>
          </a:p>
        </p:txBody>
      </p:sp>
      <p:sp>
        <p:nvSpPr>
          <p:cNvPr id="428" name="Google Shape;428;p51"/>
          <p:cNvSpPr/>
          <p:nvPr/>
        </p:nvSpPr>
        <p:spPr>
          <a:xfrm>
            <a:off x="457200" y="1143000"/>
            <a:ext cx="8227800" cy="5408280"/>
          </a:xfrm>
          <a:prstGeom prst="rect">
            <a:avLst/>
          </a:prstGeom>
          <a:noFill/>
          <a:ln>
            <a:noFill/>
          </a:ln>
        </p:spPr>
        <p:txBody>
          <a:bodyPr anchorCtr="1" anchor="t" bIns="45000" lIns="90000" spcFirstLastPara="1" rIns="90000" wrap="square" tIns="4500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139700" lvl="0" marL="0" marR="0" rtl="0" algn="l">
              <a:lnSpc>
                <a:spcPct val="100000"/>
              </a:lnSpc>
              <a:spcBef>
                <a:spcPts val="0"/>
              </a:spcBef>
              <a:spcAft>
                <a:spcPts val="0"/>
              </a:spcAft>
              <a:buClr>
                <a:srgbClr val="000000"/>
              </a:buClr>
              <a:buSzPts val="2200"/>
              <a:buFont typeface="Arial"/>
              <a:buChar char="•"/>
            </a:pPr>
            <a:r>
              <a:rPr lang="en-US" sz="2200">
                <a:solidFill>
                  <a:srgbClr val="000000"/>
                </a:solidFill>
                <a:latin typeface="Calibri"/>
                <a:ea typeface="Calibri"/>
                <a:cs typeface="Calibri"/>
                <a:sym typeface="Calibri"/>
              </a:rPr>
              <a:t>Portability is the </a:t>
            </a:r>
            <a:r>
              <a:rPr i="1" lang="en-US" sz="2200">
                <a:solidFill>
                  <a:srgbClr val="000000"/>
                </a:solidFill>
                <a:latin typeface="Calibri"/>
                <a:ea typeface="Calibri"/>
                <a:cs typeface="Calibri"/>
                <a:sym typeface="Calibri"/>
              </a:rPr>
              <a:t>degree to </a:t>
            </a:r>
            <a:r>
              <a:rPr i="1" lang="en-US" sz="2200" u="sng">
                <a:solidFill>
                  <a:srgbClr val="000000"/>
                </a:solidFill>
                <a:latin typeface="Calibri"/>
                <a:ea typeface="Calibri"/>
                <a:cs typeface="Calibri"/>
                <a:sym typeface="Calibri"/>
              </a:rPr>
              <a:t>which software running on one platform can easily be converted to run on another</a:t>
            </a:r>
            <a:r>
              <a:rPr lang="en-US" sz="2200">
                <a:solidFill>
                  <a:srgbClr val="000000"/>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139700" lvl="0" marL="0" marR="0" rtl="0" algn="l">
              <a:lnSpc>
                <a:spcPct val="100000"/>
              </a:lnSpc>
              <a:spcBef>
                <a:spcPts val="0"/>
              </a:spcBef>
              <a:spcAft>
                <a:spcPts val="0"/>
              </a:spcAft>
              <a:buClr>
                <a:srgbClr val="000000"/>
              </a:buClr>
              <a:buSzPts val="2200"/>
              <a:buFont typeface="Arial"/>
              <a:buChar char="•"/>
            </a:pPr>
            <a:r>
              <a:rPr lang="en-US" sz="2200">
                <a:solidFill>
                  <a:srgbClr val="000000"/>
                </a:solidFill>
                <a:latin typeface="Calibri"/>
                <a:ea typeface="Calibri"/>
                <a:cs typeface="Calibri"/>
                <a:sym typeface="Calibri"/>
              </a:rPr>
              <a:t>Portability is hard to quantify, because it is hard to predict on what other platforms will the software be required to run.</a:t>
            </a:r>
            <a:endParaRPr sz="1800">
              <a:solidFill>
                <a:schemeClr val="dk1"/>
              </a:solidFill>
              <a:latin typeface="Calibri"/>
              <a:ea typeface="Calibri"/>
              <a:cs typeface="Calibri"/>
              <a:sym typeface="Calibri"/>
            </a:endParaRPr>
          </a:p>
          <a:p>
            <a:pPr indent="-139700" lvl="0" marL="0" marR="0" rtl="0" algn="l">
              <a:lnSpc>
                <a:spcPct val="100000"/>
              </a:lnSpc>
              <a:spcBef>
                <a:spcPts val="0"/>
              </a:spcBef>
              <a:spcAft>
                <a:spcPts val="0"/>
              </a:spcAft>
              <a:buClr>
                <a:srgbClr val="000000"/>
              </a:buClr>
              <a:buSzPts val="2200"/>
              <a:buFont typeface="Arial"/>
              <a:buChar char="•"/>
            </a:pPr>
            <a:r>
              <a:rPr lang="en-US" sz="2200">
                <a:solidFill>
                  <a:srgbClr val="000000"/>
                </a:solidFill>
                <a:latin typeface="Calibri"/>
                <a:ea typeface="Calibri"/>
                <a:cs typeface="Calibri"/>
                <a:sym typeface="Calibri"/>
              </a:rPr>
              <a:t>Portability for a given software system can be enhanced by using languages, operating systems and tools that are universally available and standardized, such as FORTRAN, COBOL or C (for languages), or such as Unix, Windows or OS/2 (operating systems). </a:t>
            </a:r>
            <a:endParaRPr sz="1800">
              <a:solidFill>
                <a:schemeClr val="dk1"/>
              </a:solidFill>
              <a:latin typeface="Calibri"/>
              <a:ea typeface="Calibri"/>
              <a:cs typeface="Calibri"/>
              <a:sym typeface="Calibri"/>
            </a:endParaRPr>
          </a:p>
          <a:p>
            <a:pPr indent="-139700" lvl="0" marL="0" marR="0" rtl="0" algn="l">
              <a:lnSpc>
                <a:spcPct val="100000"/>
              </a:lnSpc>
              <a:spcBef>
                <a:spcPts val="0"/>
              </a:spcBef>
              <a:spcAft>
                <a:spcPts val="0"/>
              </a:spcAft>
              <a:buClr>
                <a:srgbClr val="000000"/>
              </a:buClr>
              <a:buSzPts val="2200"/>
              <a:buFont typeface="Arial"/>
              <a:buChar char="•"/>
            </a:pPr>
            <a:r>
              <a:rPr lang="en-US" sz="2200">
                <a:solidFill>
                  <a:srgbClr val="000000"/>
                </a:solidFill>
                <a:latin typeface="Calibri"/>
                <a:ea typeface="Calibri"/>
                <a:cs typeface="Calibri"/>
                <a:sym typeface="Calibri"/>
              </a:rPr>
              <a:t>Portability requirements should be given priority for systems that may have to run on different platforms in the near future.</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2"/>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QUESTION ANSWER</a:t>
            </a:r>
            <a:endParaRPr sz="1800">
              <a:solidFill>
                <a:schemeClr val="dk1"/>
              </a:solidFill>
              <a:latin typeface="Calibri"/>
              <a:ea typeface="Calibri"/>
              <a:cs typeface="Calibri"/>
              <a:sym typeface="Calibri"/>
            </a:endParaRPr>
          </a:p>
        </p:txBody>
      </p:sp>
      <p:sp>
        <p:nvSpPr>
          <p:cNvPr id="434" name="Google Shape;434;p52"/>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0" lvl="0" marL="0" marR="0" rtl="0" algn="l">
              <a:lnSpc>
                <a:spcPct val="100000"/>
              </a:lnSpc>
              <a:spcBef>
                <a:spcPts val="0"/>
              </a:spcBef>
              <a:spcAft>
                <a:spcPts val="0"/>
              </a:spcAft>
              <a:buNone/>
            </a:pPr>
            <a:r>
              <a:rPr lang="en-US" sz="3200">
                <a:solidFill>
                  <a:srgbClr val="000000"/>
                </a:solidFill>
                <a:latin typeface="Calibri"/>
                <a:ea typeface="Calibri"/>
                <a:cs typeface="Calibri"/>
                <a:sym typeface="Calibri"/>
              </a:rPr>
              <a:t>Identify the requirement type:</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Calibri"/>
              <a:buAutoNum type="arabicPeriod"/>
            </a:pPr>
            <a:r>
              <a:rPr lang="en-US" sz="3200">
                <a:solidFill>
                  <a:srgbClr val="000000"/>
                </a:solidFill>
                <a:latin typeface="Calibri"/>
                <a:ea typeface="Calibri"/>
                <a:cs typeface="Calibri"/>
                <a:sym typeface="Calibri"/>
              </a:rPr>
              <a:t>The system shall be developed for PC and Macintosh platforms.</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Calibri"/>
              <a:buAutoNum type="arabicPeriod"/>
            </a:pPr>
            <a:r>
              <a:rPr lang="en-US" sz="3200">
                <a:solidFill>
                  <a:srgbClr val="000000"/>
                </a:solidFill>
                <a:latin typeface="Calibri"/>
                <a:ea typeface="Calibri"/>
                <a:cs typeface="Calibri"/>
                <a:sym typeface="Calibri"/>
              </a:rPr>
              <a:t>The system must encrypt all external communications using the RSA algorithm.</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3"/>
          <p:cNvSpPr/>
          <p:nvPr/>
        </p:nvSpPr>
        <p:spPr>
          <a:xfrm>
            <a:off x="457200" y="274680"/>
            <a:ext cx="8227800" cy="71424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Ans</a:t>
            </a:r>
            <a:endParaRPr sz="1800">
              <a:solidFill>
                <a:schemeClr val="dk1"/>
              </a:solidFill>
              <a:latin typeface="Calibri"/>
              <a:ea typeface="Calibri"/>
              <a:cs typeface="Calibri"/>
              <a:sym typeface="Calibri"/>
            </a:endParaRPr>
          </a:p>
        </p:txBody>
      </p:sp>
      <p:sp>
        <p:nvSpPr>
          <p:cNvPr id="440" name="Google Shape;440;p53"/>
          <p:cNvSpPr/>
          <p:nvPr/>
        </p:nvSpPr>
        <p:spPr>
          <a:xfrm>
            <a:off x="457200" y="1066680"/>
            <a:ext cx="8227800" cy="5057640"/>
          </a:xfrm>
          <a:prstGeom prst="rect">
            <a:avLst/>
          </a:prstGeom>
          <a:noFill/>
          <a:ln>
            <a:noFill/>
          </a:ln>
        </p:spPr>
        <p:txBody>
          <a:bodyPr anchorCtr="1" anchor="t" bIns="45000" lIns="90000" spcFirstLastPara="1" rIns="90000" wrap="square" tIns="45000">
            <a:noAutofit/>
          </a:bodyPr>
          <a:lstStyle/>
          <a:p>
            <a:pPr indent="-165100" lvl="0" marL="0" marR="0" rtl="0" algn="l">
              <a:lnSpc>
                <a:spcPct val="100000"/>
              </a:lnSpc>
              <a:spcBef>
                <a:spcPts val="0"/>
              </a:spcBef>
              <a:spcAft>
                <a:spcPts val="0"/>
              </a:spcAft>
              <a:buClr>
                <a:srgbClr val="000000"/>
              </a:buClr>
              <a:buSzPts val="2600"/>
              <a:buFont typeface="Arial"/>
              <a:buChar char="•"/>
            </a:pPr>
            <a:r>
              <a:rPr lang="en-US" sz="2600">
                <a:solidFill>
                  <a:srgbClr val="000000"/>
                </a:solidFill>
                <a:latin typeface="Calibri"/>
                <a:ea typeface="Calibri"/>
                <a:cs typeface="Calibri"/>
                <a:sym typeface="Calibri"/>
              </a:rPr>
              <a:t>Both are NFRs (There are product requirements which relate to the source code of the system)</a:t>
            </a:r>
            <a:endParaRPr sz="1800">
              <a:solidFill>
                <a:schemeClr val="dk1"/>
              </a:solidFill>
              <a:latin typeface="Calibri"/>
              <a:ea typeface="Calibri"/>
              <a:cs typeface="Calibri"/>
              <a:sym typeface="Calibri"/>
            </a:endParaRPr>
          </a:p>
          <a:p>
            <a:pPr indent="-165100" lvl="0" marL="0" marR="0" rtl="0" algn="l">
              <a:lnSpc>
                <a:spcPct val="100000"/>
              </a:lnSpc>
              <a:spcBef>
                <a:spcPts val="0"/>
              </a:spcBef>
              <a:spcAft>
                <a:spcPts val="0"/>
              </a:spcAft>
              <a:buClr>
                <a:srgbClr val="000000"/>
              </a:buClr>
              <a:buSzPts val="2600"/>
              <a:buFont typeface="Arial"/>
              <a:buChar char="•"/>
            </a:pPr>
            <a:r>
              <a:rPr lang="en-US" sz="2600">
                <a:solidFill>
                  <a:srgbClr val="000000"/>
                </a:solidFill>
                <a:latin typeface="Calibri"/>
                <a:ea typeface="Calibri"/>
                <a:cs typeface="Calibri"/>
                <a:sym typeface="Calibri"/>
              </a:rPr>
              <a:t>Examples:  The system shall be developed for PC and Macintosh platforms. This is a </a:t>
            </a:r>
            <a:r>
              <a:rPr lang="en-US" sz="2600" u="sng">
                <a:solidFill>
                  <a:srgbClr val="000000"/>
                </a:solidFill>
                <a:latin typeface="Calibri"/>
                <a:ea typeface="Calibri"/>
                <a:cs typeface="Calibri"/>
                <a:sym typeface="Calibri"/>
              </a:rPr>
              <a:t>portability requirement </a:t>
            </a:r>
            <a:r>
              <a:rPr lang="en-US" sz="2600">
                <a:solidFill>
                  <a:srgbClr val="000000"/>
                </a:solidFill>
                <a:latin typeface="Calibri"/>
                <a:ea typeface="Calibri"/>
                <a:cs typeface="Calibri"/>
                <a:sym typeface="Calibri"/>
              </a:rPr>
              <a:t>which affects the way in which the system may be designed.</a:t>
            </a:r>
            <a:endParaRPr sz="1800">
              <a:solidFill>
                <a:schemeClr val="dk1"/>
              </a:solidFill>
              <a:latin typeface="Calibri"/>
              <a:ea typeface="Calibri"/>
              <a:cs typeface="Calibri"/>
              <a:sym typeface="Calibri"/>
            </a:endParaRPr>
          </a:p>
          <a:p>
            <a:pPr indent="-165100" lvl="0" marL="0" marR="0" rtl="0" algn="l">
              <a:lnSpc>
                <a:spcPct val="100000"/>
              </a:lnSpc>
              <a:spcBef>
                <a:spcPts val="0"/>
              </a:spcBef>
              <a:spcAft>
                <a:spcPts val="0"/>
              </a:spcAft>
              <a:buClr>
                <a:srgbClr val="000000"/>
              </a:buClr>
              <a:buSzPts val="2600"/>
              <a:buFont typeface="Arial"/>
              <a:buChar char="•"/>
            </a:pPr>
            <a:r>
              <a:rPr lang="en-US" sz="2600">
                <a:solidFill>
                  <a:srgbClr val="000000"/>
                </a:solidFill>
                <a:latin typeface="Calibri"/>
                <a:ea typeface="Calibri"/>
                <a:cs typeface="Calibri"/>
                <a:sym typeface="Calibri"/>
              </a:rPr>
              <a:t>  The system must encrypt all external communications using the RSA algorithm. This is a </a:t>
            </a:r>
            <a:r>
              <a:rPr lang="en-US" sz="2600" u="sng">
                <a:solidFill>
                  <a:srgbClr val="000000"/>
                </a:solidFill>
                <a:latin typeface="Calibri"/>
                <a:ea typeface="Calibri"/>
                <a:cs typeface="Calibri"/>
                <a:sym typeface="Calibri"/>
              </a:rPr>
              <a:t>security requirement </a:t>
            </a:r>
            <a:r>
              <a:rPr lang="en-US" sz="2600">
                <a:solidFill>
                  <a:srgbClr val="000000"/>
                </a:solidFill>
                <a:latin typeface="Calibri"/>
                <a:ea typeface="Calibri"/>
                <a:cs typeface="Calibri"/>
                <a:sym typeface="Calibri"/>
              </a:rPr>
              <a:t>which specifies that a specific algorithm must be used in the product.</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4"/>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Software efficiency</a:t>
            </a:r>
            <a:endParaRPr sz="1800">
              <a:solidFill>
                <a:schemeClr val="dk1"/>
              </a:solidFill>
              <a:latin typeface="Calibri"/>
              <a:ea typeface="Calibri"/>
              <a:cs typeface="Calibri"/>
              <a:sym typeface="Calibri"/>
            </a:endParaRPr>
          </a:p>
        </p:txBody>
      </p:sp>
      <p:sp>
        <p:nvSpPr>
          <p:cNvPr id="446" name="Google Shape;446;p54"/>
          <p:cNvSpPr/>
          <p:nvPr/>
        </p:nvSpPr>
        <p:spPr>
          <a:xfrm>
            <a:off x="457200" y="1219320"/>
            <a:ext cx="8227800" cy="490500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It refers to the level of use of scarce computational resources, such as CPU cycles, memory, disk space, buffers and communications channels. </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 Efficiency can be characterized as follows: </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Capacity - maximum number of users/terminals/ transactions/... the system can handle without performance degradation</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Degradation of service -- what happens when a system with capacity X widgets per time-unit receives X+1 widgets? We don't want the system to simply crash! Rather, we may want to stipulate that the system should handle the load, perhaps with degraded performance.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5"/>
          <p:cNvSpPr/>
          <p:nvPr/>
        </p:nvSpPr>
        <p:spPr>
          <a:xfrm>
            <a:off x="457200" y="274680"/>
            <a:ext cx="8227800" cy="790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QUESTION ANSWER</a:t>
            </a:r>
            <a:endParaRPr sz="1800">
              <a:solidFill>
                <a:schemeClr val="dk1"/>
              </a:solidFill>
              <a:latin typeface="Calibri"/>
              <a:ea typeface="Calibri"/>
              <a:cs typeface="Calibri"/>
              <a:sym typeface="Calibri"/>
            </a:endParaRPr>
          </a:p>
        </p:txBody>
      </p:sp>
      <p:sp>
        <p:nvSpPr>
          <p:cNvPr id="452" name="Google Shape;452;p55"/>
          <p:cNvSpPr/>
          <p:nvPr/>
        </p:nvSpPr>
        <p:spPr>
          <a:xfrm>
            <a:off x="457200" y="1143000"/>
            <a:ext cx="8227800" cy="4981320"/>
          </a:xfrm>
          <a:prstGeom prst="rect">
            <a:avLst/>
          </a:prstGeom>
          <a:noFill/>
          <a:ln>
            <a:noFill/>
          </a:ln>
        </p:spPr>
        <p:txBody>
          <a:bodyPr anchorCtr="1" anchor="t" bIns="45000" lIns="90000" spcFirstLastPara="1" rIns="90000" wrap="square" tIns="45000">
            <a:noAutofit/>
          </a:bodyPr>
          <a:lstStyle/>
          <a:p>
            <a:pPr indent="0" lvl="0" marL="0" marR="0" rtl="0" algn="l">
              <a:lnSpc>
                <a:spcPct val="100000"/>
              </a:lnSpc>
              <a:spcBef>
                <a:spcPts val="0"/>
              </a:spcBef>
              <a:spcAft>
                <a:spcPts val="0"/>
              </a:spcAft>
              <a:buNone/>
            </a:pPr>
            <a:r>
              <a:rPr lang="en-US" sz="2400">
                <a:solidFill>
                  <a:srgbClr val="000000"/>
                </a:solidFill>
                <a:latin typeface="Calibri"/>
                <a:ea typeface="Calibri"/>
                <a:cs typeface="Calibri"/>
                <a:sym typeface="Calibri"/>
              </a:rPr>
              <a:t>Identify the requirement type:</a:t>
            </a:r>
            <a:endParaRPr sz="1800">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000000"/>
              </a:buClr>
              <a:buSzPts val="2400"/>
              <a:buFont typeface="Arial"/>
              <a:buChar char="•"/>
            </a:pPr>
            <a:r>
              <a:rPr lang="en-US" sz="2400">
                <a:solidFill>
                  <a:srgbClr val="000000"/>
                </a:solidFill>
                <a:latin typeface="Calibri"/>
                <a:ea typeface="Calibri"/>
                <a:cs typeface="Calibri"/>
                <a:sym typeface="Calibri"/>
              </a:rPr>
              <a:t>"...The system shall handle up to and including 20 simultaneous terminals and users performing any activities without degradation of service below that defined in section X.Y.Z;</a:t>
            </a:r>
            <a:endParaRPr sz="1800">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000000"/>
              </a:buClr>
              <a:buSzPts val="2400"/>
              <a:buFont typeface="Arial"/>
              <a:buChar char="•"/>
            </a:pPr>
            <a:r>
              <a:rPr lang="en-US" sz="2400">
                <a:solidFill>
                  <a:srgbClr val="000000"/>
                </a:solidFill>
                <a:latin typeface="Calibri"/>
                <a:ea typeface="Calibri"/>
                <a:cs typeface="Calibri"/>
                <a:sym typeface="Calibri"/>
              </a:rPr>
              <a:t> other systems may make short requests, at a maximum rate of 50/hr and long requests at the rate of 1/hr...” </a:t>
            </a:r>
            <a:endParaRPr sz="1800">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000000"/>
              </a:buClr>
              <a:buSzPts val="2400"/>
              <a:buFont typeface="Arial"/>
              <a:buChar char="•"/>
            </a:pPr>
            <a:r>
              <a:rPr lang="en-US" sz="2400">
                <a:solidFill>
                  <a:srgbClr val="000000"/>
                </a:solidFill>
                <a:latin typeface="Calibri"/>
                <a:ea typeface="Calibri"/>
                <a:cs typeface="Calibri"/>
                <a:sym typeface="Calibri"/>
              </a:rPr>
              <a:t>"…For more than 20 simultaneous terminals, the system will continue to operate with degraded services below what is defined in section X.Y.Z..."</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6"/>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Process Requirements</a:t>
            </a:r>
            <a:endParaRPr sz="1800">
              <a:solidFill>
                <a:schemeClr val="dk1"/>
              </a:solidFill>
              <a:latin typeface="Calibri"/>
              <a:ea typeface="Calibri"/>
              <a:cs typeface="Calibri"/>
              <a:sym typeface="Calibri"/>
            </a:endParaRPr>
          </a:p>
        </p:txBody>
      </p:sp>
      <p:sp>
        <p:nvSpPr>
          <p:cNvPr id="458" name="Google Shape;458;p56"/>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Process requirements are constraints placed upon the development process of the system.</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3200">
                <a:solidFill>
                  <a:srgbClr val="000000"/>
                </a:solidFill>
                <a:latin typeface="Calibri"/>
                <a:ea typeface="Calibri"/>
                <a:cs typeface="Calibri"/>
                <a:sym typeface="Calibri"/>
              </a:rPr>
              <a:t>(</a:t>
            </a:r>
            <a:r>
              <a:rPr b="1" lang="en-US" sz="3200">
                <a:solidFill>
                  <a:srgbClr val="000000"/>
                </a:solidFill>
                <a:latin typeface="Calibri"/>
                <a:ea typeface="Calibri"/>
                <a:cs typeface="Calibri"/>
                <a:sym typeface="Calibri"/>
              </a:rPr>
              <a:t>development time limitations, resource availability, methodological standards etc</a:t>
            </a:r>
            <a:r>
              <a:rPr lang="en-US" sz="3200">
                <a:solidFill>
                  <a:srgbClr val="000000"/>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Process requirements include: </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Requirements on development standards and methods which must be followed.</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 CASE tools which should be used.</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 The management reports which must be provided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7"/>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Examples of process requirements</a:t>
            </a:r>
            <a:endParaRPr sz="1800">
              <a:solidFill>
                <a:schemeClr val="dk1"/>
              </a:solidFill>
              <a:latin typeface="Calibri"/>
              <a:ea typeface="Calibri"/>
              <a:cs typeface="Calibri"/>
              <a:sym typeface="Calibri"/>
            </a:endParaRPr>
          </a:p>
        </p:txBody>
      </p:sp>
      <p:sp>
        <p:nvSpPr>
          <p:cNvPr id="464" name="Google Shape;464;p57"/>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The development process to be used must be explicitly defined and must be conformant with ISO 9000 standards.</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The system must be developed using the XYZ suite of CASE tools.</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Management reports setting out the effort expended on each identified system component must be produced every two weeks.</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A disaster recovery plan for the system development must be specified.</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8"/>
          <p:cNvSpPr/>
          <p:nvPr/>
        </p:nvSpPr>
        <p:spPr>
          <a:xfrm>
            <a:off x="457200" y="274680"/>
            <a:ext cx="8227800" cy="63792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External requirements</a:t>
            </a:r>
            <a:endParaRPr sz="1800">
              <a:solidFill>
                <a:schemeClr val="dk1"/>
              </a:solidFill>
              <a:latin typeface="Calibri"/>
              <a:ea typeface="Calibri"/>
              <a:cs typeface="Calibri"/>
              <a:sym typeface="Calibri"/>
            </a:endParaRPr>
          </a:p>
        </p:txBody>
      </p:sp>
      <p:sp>
        <p:nvSpPr>
          <p:cNvPr id="470" name="Google Shape;470;p58"/>
          <p:cNvSpPr/>
          <p:nvPr/>
        </p:nvSpPr>
        <p:spPr>
          <a:xfrm>
            <a:off x="457200" y="762120"/>
            <a:ext cx="8532720" cy="586548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May be placed on both the product and the process.</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Derived from the environment in which the system is developed.</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3200">
                <a:solidFill>
                  <a:srgbClr val="000000"/>
                </a:solidFill>
                <a:latin typeface="Calibri"/>
                <a:ea typeface="Calibri"/>
                <a:cs typeface="Calibri"/>
                <a:sym typeface="Calibri"/>
              </a:rPr>
              <a:t>External requirements are based on:  </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application domain information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organisational considerations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the need for the system to work with other systems 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health and safety or data protection regulations</a:t>
            </a:r>
            <a:endParaRPr b="0" i="0" sz="1800" u="none" cap="none" strike="noStrike">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Legal requirements:  Concerned with licensing, regulation, and certification issue</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9"/>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3600">
                <a:solidFill>
                  <a:srgbClr val="000000"/>
                </a:solidFill>
                <a:latin typeface="Calibri"/>
                <a:ea typeface="Calibri"/>
                <a:cs typeface="Calibri"/>
                <a:sym typeface="Calibri"/>
              </a:rPr>
              <a:t>Examples of external requirements</a:t>
            </a:r>
            <a:endParaRPr sz="1800">
              <a:solidFill>
                <a:schemeClr val="dk1"/>
              </a:solidFill>
              <a:latin typeface="Calibri"/>
              <a:ea typeface="Calibri"/>
              <a:cs typeface="Calibri"/>
              <a:sym typeface="Calibri"/>
            </a:endParaRPr>
          </a:p>
        </p:txBody>
      </p:sp>
      <p:sp>
        <p:nvSpPr>
          <p:cNvPr id="476" name="Google Shape;476;p59"/>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165100" lvl="0" marL="0" marR="0" rtl="0" algn="l">
              <a:lnSpc>
                <a:spcPct val="100000"/>
              </a:lnSpc>
              <a:spcBef>
                <a:spcPts val="0"/>
              </a:spcBef>
              <a:spcAft>
                <a:spcPts val="0"/>
              </a:spcAft>
              <a:buClr>
                <a:srgbClr val="000000"/>
              </a:buClr>
              <a:buSzPts val="2600"/>
              <a:buFont typeface="Arial"/>
              <a:buChar char="•"/>
            </a:pPr>
            <a:r>
              <a:rPr lang="en-US" sz="2600">
                <a:solidFill>
                  <a:srgbClr val="000000"/>
                </a:solidFill>
                <a:latin typeface="Calibri"/>
                <a:ea typeface="Calibri"/>
                <a:cs typeface="Calibri"/>
                <a:sym typeface="Calibri"/>
              </a:rPr>
              <a:t>Medical data system: The organization's data protection officer must certify that all data is maintained according to data protection legislation before the system is put into operation.</a:t>
            </a:r>
            <a:endParaRPr sz="1800">
              <a:solidFill>
                <a:schemeClr val="dk1"/>
              </a:solidFill>
              <a:latin typeface="Calibri"/>
              <a:ea typeface="Calibri"/>
              <a:cs typeface="Calibri"/>
              <a:sym typeface="Calibri"/>
            </a:endParaRPr>
          </a:p>
          <a:p>
            <a:pPr indent="-165100" lvl="0" marL="0" marR="0" rtl="0" algn="l">
              <a:lnSpc>
                <a:spcPct val="100000"/>
              </a:lnSpc>
              <a:spcBef>
                <a:spcPts val="0"/>
              </a:spcBef>
              <a:spcAft>
                <a:spcPts val="0"/>
              </a:spcAft>
              <a:buClr>
                <a:srgbClr val="000000"/>
              </a:buClr>
              <a:buSzPts val="2600"/>
              <a:buFont typeface="Arial"/>
              <a:buChar char="•"/>
            </a:pPr>
            <a:r>
              <a:rPr lang="en-US" sz="2600">
                <a:solidFill>
                  <a:srgbClr val="000000"/>
                </a:solidFill>
                <a:latin typeface="Calibri"/>
                <a:ea typeface="Calibri"/>
                <a:cs typeface="Calibri"/>
                <a:sym typeface="Calibri"/>
              </a:rPr>
              <a:t>A software is regulated under the GNU General Public License  make sure the software is free for all its users, that is, everybody can share and change the software  No warranty, no patents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0"/>
          <p:cNvSpPr/>
          <p:nvPr/>
        </p:nvSpPr>
        <p:spPr>
          <a:xfrm>
            <a:off x="457200" y="274680"/>
            <a:ext cx="7291440" cy="114120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Goals and requirements</a:t>
            </a:r>
            <a:endParaRPr sz="1800">
              <a:solidFill>
                <a:schemeClr val="dk1"/>
              </a:solidFill>
              <a:latin typeface="Calibri"/>
              <a:ea typeface="Calibri"/>
              <a:cs typeface="Calibri"/>
              <a:sym typeface="Calibri"/>
            </a:endParaRPr>
          </a:p>
        </p:txBody>
      </p:sp>
      <p:sp>
        <p:nvSpPr>
          <p:cNvPr id="482" name="Google Shape;482;p60"/>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Non-functional requirements may be very difficult to state precisely and imprecise requirements may be difficult to verify. </a:t>
            </a:r>
            <a:endParaRPr sz="1800">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Goal</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A general intention of the user such as ease of use.</a:t>
            </a:r>
            <a:endParaRPr b="0" i="0" sz="1800" u="none" cap="none" strike="noStrike">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Verifiable non-functional requirement</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A statement using some measure that can be objectively tested.</a:t>
            </a:r>
            <a:endParaRPr b="0" i="0" sz="1800" u="none" cap="none" strike="noStrike">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Goals are helpful to developers as they convey the intentions of the system users.</a:t>
            </a:r>
            <a:endParaRPr sz="1800">
              <a:solidFill>
                <a:schemeClr val="dk1"/>
              </a:solidFill>
              <a:latin typeface="Calibri"/>
              <a:ea typeface="Calibri"/>
              <a:cs typeface="Calibri"/>
              <a:sym typeface="Calibri"/>
            </a:endParaRPr>
          </a:p>
        </p:txBody>
      </p:sp>
      <p:sp>
        <p:nvSpPr>
          <p:cNvPr id="483" name="Google Shape;483;p60"/>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1"/>
          <p:cNvSpPr/>
          <p:nvPr/>
        </p:nvSpPr>
        <p:spPr>
          <a:xfrm>
            <a:off x="457200" y="274680"/>
            <a:ext cx="7291440" cy="114120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Usability requirements</a:t>
            </a:r>
            <a:endParaRPr sz="1800">
              <a:solidFill>
                <a:schemeClr val="dk1"/>
              </a:solidFill>
              <a:latin typeface="Calibri"/>
              <a:ea typeface="Calibri"/>
              <a:cs typeface="Calibri"/>
              <a:sym typeface="Calibri"/>
            </a:endParaRPr>
          </a:p>
        </p:txBody>
      </p:sp>
      <p:sp>
        <p:nvSpPr>
          <p:cNvPr id="489" name="Google Shape;489;p61"/>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The system should be easy to use by medical staff and should be organized in such a way that user errors are minimized. (Goal)</a:t>
            </a:r>
            <a:endParaRPr sz="1800">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Medical staff shall be able to use all the system functions after four hours of training. After this training, the average number of errors made by experienced users shall not exceed two per hour of system use. (Testable non-functional requirement)</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61"/>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2"/>
          <p:cNvSpPr/>
          <p:nvPr/>
        </p:nvSpPr>
        <p:spPr>
          <a:xfrm>
            <a:off x="457200" y="274680"/>
            <a:ext cx="7291440" cy="114120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Metrics for specifying nonfunctional requirements</a:t>
            </a:r>
            <a:endParaRPr sz="1800">
              <a:solidFill>
                <a:schemeClr val="dk1"/>
              </a:solidFill>
              <a:latin typeface="Calibri"/>
              <a:ea typeface="Calibri"/>
              <a:cs typeface="Calibri"/>
              <a:sym typeface="Calibri"/>
            </a:endParaRPr>
          </a:p>
        </p:txBody>
      </p:sp>
      <p:graphicFrame>
        <p:nvGraphicFramePr>
          <p:cNvPr id="496" name="Google Shape;496;p62"/>
          <p:cNvGraphicFramePr/>
          <p:nvPr/>
        </p:nvGraphicFramePr>
        <p:xfrm>
          <a:off x="990720" y="1600200"/>
          <a:ext cx="3000000" cy="3000000"/>
        </p:xfrm>
        <a:graphic>
          <a:graphicData uri="http://schemas.openxmlformats.org/drawingml/2006/table">
            <a:tbl>
              <a:tblPr>
                <a:noFill/>
                <a:tableStyleId>{FA417998-51A4-4FD3-8344-115FCE8B26E9}</a:tableStyleId>
              </a:tblPr>
              <a:tblGrid>
                <a:gridCol w="2952725"/>
                <a:gridCol w="4665600"/>
              </a:tblGrid>
              <a:tr h="434525">
                <a:tc>
                  <a:txBody>
                    <a:bodyPr/>
                    <a:lstStyle/>
                    <a:p>
                      <a:pPr indent="0" lvl="0" marL="0" marR="0" rtl="0" algn="just">
                        <a:lnSpc>
                          <a:spcPct val="100000"/>
                        </a:lnSpc>
                        <a:spcBef>
                          <a:spcPts val="0"/>
                        </a:spcBef>
                        <a:spcAft>
                          <a:spcPts val="0"/>
                        </a:spcAft>
                        <a:buNone/>
                      </a:pPr>
                      <a:r>
                        <a:rPr b="1" lang="en-US" sz="1600">
                          <a:solidFill>
                            <a:srgbClr val="000000"/>
                          </a:solidFill>
                          <a:latin typeface="Arial"/>
                          <a:ea typeface="Arial"/>
                          <a:cs typeface="Arial"/>
                          <a:sym typeface="Arial"/>
                        </a:rPr>
                        <a:t>Property</a:t>
                      </a:r>
                      <a:endParaRPr sz="1800"/>
                    </a:p>
                  </a:txBody>
                  <a:tcPr marT="45725" marB="45725" marR="91450" marL="91450"/>
                </a:tc>
                <a:tc>
                  <a:txBody>
                    <a:bodyPr/>
                    <a:lstStyle/>
                    <a:p>
                      <a:pPr indent="0" lvl="0" marL="0" marR="0" rtl="0" algn="just">
                        <a:lnSpc>
                          <a:spcPct val="100000"/>
                        </a:lnSpc>
                        <a:spcBef>
                          <a:spcPts val="0"/>
                        </a:spcBef>
                        <a:spcAft>
                          <a:spcPts val="0"/>
                        </a:spcAft>
                        <a:buNone/>
                      </a:pPr>
                      <a:r>
                        <a:rPr b="1" lang="en-US" sz="1600">
                          <a:solidFill>
                            <a:srgbClr val="000000"/>
                          </a:solidFill>
                          <a:latin typeface="Arial"/>
                          <a:ea typeface="Arial"/>
                          <a:cs typeface="Arial"/>
                          <a:sym typeface="Arial"/>
                        </a:rPr>
                        <a:t>Measure</a:t>
                      </a:r>
                      <a:endParaRPr sz="1800"/>
                    </a:p>
                  </a:txBody>
                  <a:tcPr marT="45725" marB="45725" marR="91450" marL="91450"/>
                </a:tc>
              </a:tr>
              <a:tr h="820450">
                <a:tc>
                  <a:txBody>
                    <a:bodyPr/>
                    <a:lstStyle/>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Speed</a:t>
                      </a:r>
                      <a:endParaRPr sz="1800"/>
                    </a:p>
                  </a:txBody>
                  <a:tcPr marT="45725" marB="45725" marR="91450" marL="91450"/>
                </a:tc>
                <a:tc>
                  <a:txBody>
                    <a:bodyPr/>
                    <a:lstStyle/>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Processed transactions/second</a:t>
                      </a:r>
                      <a:endParaRPr sz="1800"/>
                    </a:p>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User/event response time</a:t>
                      </a:r>
                      <a:endParaRPr sz="1800"/>
                    </a:p>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Screen refresh time</a:t>
                      </a:r>
                      <a:endParaRPr sz="1800"/>
                    </a:p>
                  </a:txBody>
                  <a:tcPr marT="45725" marB="45725" marR="91450" marL="91450"/>
                </a:tc>
              </a:tr>
              <a:tr h="579250">
                <a:tc>
                  <a:txBody>
                    <a:bodyPr/>
                    <a:lstStyle/>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Size</a:t>
                      </a:r>
                      <a:endParaRPr sz="1800"/>
                    </a:p>
                  </a:txBody>
                  <a:tcPr marT="45725" marB="45725" marR="91450" marL="91450"/>
                </a:tc>
                <a:tc>
                  <a:txBody>
                    <a:bodyPr/>
                    <a:lstStyle/>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Mbytes</a:t>
                      </a:r>
                      <a:endParaRPr sz="1800"/>
                    </a:p>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Number of ROM chips</a:t>
                      </a:r>
                      <a:endParaRPr sz="1800"/>
                    </a:p>
                  </a:txBody>
                  <a:tcPr marT="45725" marB="45725" marR="91450" marL="91450"/>
                </a:tc>
              </a:tr>
              <a:tr h="579250">
                <a:tc>
                  <a:txBody>
                    <a:bodyPr/>
                    <a:lstStyle/>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Ease of use</a:t>
                      </a:r>
                      <a:endParaRPr sz="1800"/>
                    </a:p>
                  </a:txBody>
                  <a:tcPr marT="45725" marB="45725" marR="91450" marL="91450"/>
                </a:tc>
                <a:tc>
                  <a:txBody>
                    <a:bodyPr/>
                    <a:lstStyle/>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Training time</a:t>
                      </a:r>
                      <a:endParaRPr sz="1800"/>
                    </a:p>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Number of help frames</a:t>
                      </a:r>
                      <a:endParaRPr sz="1800"/>
                    </a:p>
                  </a:txBody>
                  <a:tcPr marT="45725" marB="45725" marR="91450" marL="91450"/>
                </a:tc>
              </a:tr>
              <a:tr h="1062000">
                <a:tc>
                  <a:txBody>
                    <a:bodyPr/>
                    <a:lstStyle/>
                    <a:p>
                      <a:pPr indent="0" lvl="0" marL="0" marR="0" rtl="0" algn="l">
                        <a:lnSpc>
                          <a:spcPct val="100000"/>
                        </a:lnSpc>
                        <a:spcBef>
                          <a:spcPts val="0"/>
                        </a:spcBef>
                        <a:spcAft>
                          <a:spcPts val="0"/>
                        </a:spcAft>
                        <a:buNone/>
                      </a:pPr>
                      <a:r>
                        <a:rPr lang="en-US" sz="1600">
                          <a:solidFill>
                            <a:srgbClr val="000000"/>
                          </a:solidFill>
                          <a:latin typeface="Arial"/>
                          <a:ea typeface="Arial"/>
                          <a:cs typeface="Arial"/>
                          <a:sym typeface="Arial"/>
                        </a:rPr>
                        <a:t>Reliability</a:t>
                      </a:r>
                      <a:endParaRPr sz="1800"/>
                    </a:p>
                  </a:txBody>
                  <a:tcPr marT="45725" marB="45725" marR="91450" marL="91450"/>
                </a:tc>
                <a:tc>
                  <a:txBody>
                    <a:bodyPr/>
                    <a:lstStyle/>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Mean time to failure</a:t>
                      </a:r>
                      <a:endParaRPr sz="1800"/>
                    </a:p>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Probability of unavailability</a:t>
                      </a:r>
                      <a:endParaRPr sz="1800"/>
                    </a:p>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Rate of failure occurrence</a:t>
                      </a:r>
                      <a:endParaRPr sz="1800"/>
                    </a:p>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Availability</a:t>
                      </a:r>
                      <a:endParaRPr sz="1800"/>
                    </a:p>
                  </a:txBody>
                  <a:tcPr marT="45725" marB="45725" marR="91450" marL="91450"/>
                </a:tc>
              </a:tr>
              <a:tr h="820450">
                <a:tc>
                  <a:txBody>
                    <a:bodyPr/>
                    <a:lstStyle/>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Robustness</a:t>
                      </a:r>
                      <a:endParaRPr sz="1800"/>
                    </a:p>
                  </a:txBody>
                  <a:tcPr marT="45725" marB="45725" marR="91450" marL="91450"/>
                </a:tc>
                <a:tc>
                  <a:txBody>
                    <a:bodyPr/>
                    <a:lstStyle/>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Time to restart after failure</a:t>
                      </a:r>
                      <a:endParaRPr sz="1800"/>
                    </a:p>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Percentage of events causing failure</a:t>
                      </a:r>
                      <a:endParaRPr sz="1800"/>
                    </a:p>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Probability of data corruption on failure</a:t>
                      </a:r>
                      <a:endParaRPr sz="1800"/>
                    </a:p>
                  </a:txBody>
                  <a:tcPr marT="45725" marB="45725" marR="91450" marL="91450"/>
                </a:tc>
              </a:tr>
              <a:tr h="579250">
                <a:tc>
                  <a:txBody>
                    <a:bodyPr/>
                    <a:lstStyle/>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Portability</a:t>
                      </a:r>
                      <a:endParaRPr sz="1800"/>
                    </a:p>
                  </a:txBody>
                  <a:tcPr marT="45725" marB="45725" marR="91450" marL="91450"/>
                </a:tc>
                <a:tc>
                  <a:txBody>
                    <a:bodyPr/>
                    <a:lstStyle/>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Percentage of target dependent statements</a:t>
                      </a:r>
                      <a:endParaRPr sz="1800"/>
                    </a:p>
                    <a:p>
                      <a:pPr indent="0" lvl="0" marL="0" marR="0" rtl="0" algn="just">
                        <a:lnSpc>
                          <a:spcPct val="100000"/>
                        </a:lnSpc>
                        <a:spcBef>
                          <a:spcPts val="0"/>
                        </a:spcBef>
                        <a:spcAft>
                          <a:spcPts val="0"/>
                        </a:spcAft>
                        <a:buNone/>
                      </a:pPr>
                      <a:r>
                        <a:rPr lang="en-US" sz="1600">
                          <a:solidFill>
                            <a:srgbClr val="000000"/>
                          </a:solidFill>
                          <a:latin typeface="Arial"/>
                          <a:ea typeface="Arial"/>
                          <a:cs typeface="Arial"/>
                          <a:sym typeface="Arial"/>
                        </a:rPr>
                        <a:t>Number of target systems</a:t>
                      </a:r>
                      <a:endParaRPr sz="1800"/>
                    </a:p>
                  </a:txBody>
                  <a:tcPr marT="45725" marB="45725" marR="91450" marL="91450"/>
                </a:tc>
              </a:tr>
            </a:tbl>
          </a:graphicData>
        </a:graphic>
      </p:graphicFrame>
      <p:sp>
        <p:nvSpPr>
          <p:cNvPr id="497" name="Google Shape;497;p62"/>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3"/>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4400">
                <a:solidFill>
                  <a:srgbClr val="000000"/>
                </a:solidFill>
                <a:latin typeface="Calibri"/>
                <a:ea typeface="Calibri"/>
                <a:cs typeface="Calibri"/>
                <a:sym typeface="Calibri"/>
              </a:rPr>
              <a:t>Relationships between user needs, concerns and NFRs</a:t>
            </a:r>
            <a:endParaRPr sz="1800">
              <a:solidFill>
                <a:schemeClr val="dk1"/>
              </a:solidFill>
              <a:latin typeface="Calibri"/>
              <a:ea typeface="Calibri"/>
              <a:cs typeface="Calibri"/>
              <a:sym typeface="Calibri"/>
            </a:endParaRPr>
          </a:p>
        </p:txBody>
      </p:sp>
      <p:graphicFrame>
        <p:nvGraphicFramePr>
          <p:cNvPr id="503" name="Google Shape;503;p63"/>
          <p:cNvGraphicFramePr/>
          <p:nvPr/>
        </p:nvGraphicFramePr>
        <p:xfrm>
          <a:off x="380880" y="1600200"/>
          <a:ext cx="3000000" cy="3000000"/>
        </p:xfrm>
        <a:graphic>
          <a:graphicData uri="http://schemas.openxmlformats.org/drawingml/2006/table">
            <a:tbl>
              <a:tblPr>
                <a:noFill/>
                <a:tableStyleId>{FA417998-51A4-4FD3-8344-115FCE8B26E9}</a:tableStyleId>
              </a:tblPr>
              <a:tblGrid>
                <a:gridCol w="2050550"/>
                <a:gridCol w="3486250"/>
                <a:gridCol w="2767325"/>
              </a:tblGrid>
              <a:tr h="628200">
                <a:tc>
                  <a:txBody>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User’s need</a:t>
                      </a:r>
                      <a:endParaRPr sz="1800"/>
                    </a:p>
                  </a:txBody>
                  <a:tcPr marT="45725" marB="45725" marR="91450" marL="91450"/>
                </a:tc>
                <a:tc>
                  <a:txBody>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User’s concern </a:t>
                      </a:r>
                      <a:endParaRPr sz="1800"/>
                    </a:p>
                  </a:txBody>
                  <a:tcPr marT="45725" marB="45725" marR="91450" marL="91450"/>
                </a:tc>
                <a:tc>
                  <a:txBody>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Non-functional requirement</a:t>
                      </a:r>
                      <a:endParaRPr sz="1800"/>
                    </a:p>
                  </a:txBody>
                  <a:tcPr marT="45725" marB="45725" marR="91450" marL="91450"/>
                </a:tc>
              </a:tr>
              <a:tr h="1055525">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Function</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Ease of use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 </a:t>
                      </a:r>
                      <a:r>
                        <a:rPr lang="en-US" sz="1800">
                          <a:latin typeface="Calibri"/>
                          <a:ea typeface="Calibri"/>
                          <a:cs typeface="Calibri"/>
                          <a:sym typeface="Calibri"/>
                        </a:rPr>
                        <a:t>Unauthorised</a:t>
                      </a:r>
                      <a:r>
                        <a:rPr lang="en-US" sz="1800">
                          <a:solidFill>
                            <a:srgbClr val="000000"/>
                          </a:solidFill>
                          <a:latin typeface="Calibri"/>
                          <a:ea typeface="Calibri"/>
                          <a:cs typeface="Calibri"/>
                          <a:sym typeface="Calibri"/>
                        </a:rPr>
                        <a:t> access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Likelihood of failure</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Usability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 Security                   </a:t>
                      </a:r>
                      <a:endParaRPr sz="1800"/>
                    </a:p>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 3.   Reliability</a:t>
                      </a:r>
                      <a:endParaRPr sz="1800"/>
                    </a:p>
                  </a:txBody>
                  <a:tcPr marT="45725" marB="45725" marR="91450" marL="91450"/>
                </a:tc>
              </a:tr>
              <a:tr h="8964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Performance</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 Resource utilization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Performance verification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Ease of interfacing</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Efficiency</a:t>
                      </a:r>
                      <a:endParaRPr sz="1800"/>
                    </a:p>
                    <a:p>
                      <a:pPr indent="-114300" lvl="0" marL="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latin typeface="Calibri"/>
                          <a:ea typeface="Calibri"/>
                          <a:cs typeface="Calibri"/>
                          <a:sym typeface="Calibri"/>
                        </a:rPr>
                        <a:t>Verifiability </a:t>
                      </a:r>
                      <a:endParaRPr sz="1800"/>
                    </a:p>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3. Interoperability</a:t>
                      </a:r>
                      <a:endParaRPr sz="1800"/>
                    </a:p>
                  </a:txBody>
                  <a:tcPr marT="45725" marB="45725" marR="91450" marL="91450"/>
                </a:tc>
              </a:tr>
              <a:tr h="17010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Change</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Ease of repair</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Ease of change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Ease of transport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Ease of expanding or upgrading capacity or performance ?</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latin typeface="Calibri"/>
                          <a:ea typeface="Calibri"/>
                          <a:cs typeface="Calibri"/>
                          <a:sym typeface="Calibri"/>
                        </a:rPr>
                        <a:t>Maintainability</a:t>
                      </a:r>
                      <a:endParaRPr sz="1800"/>
                    </a:p>
                    <a:p>
                      <a:pPr indent="-114300" lvl="0" marL="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latin typeface="Calibri"/>
                          <a:ea typeface="Calibri"/>
                          <a:cs typeface="Calibri"/>
                          <a:sym typeface="Calibri"/>
                        </a:rPr>
                        <a:t> Flexibility</a:t>
                      </a:r>
                      <a:endParaRPr sz="1800"/>
                    </a:p>
                    <a:p>
                      <a:pPr indent="-114300" lvl="0" marL="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latin typeface="Calibri"/>
                          <a:ea typeface="Calibri"/>
                          <a:cs typeface="Calibri"/>
                          <a:sym typeface="Calibri"/>
                        </a:rPr>
                        <a:t> Portability</a:t>
                      </a:r>
                      <a:endParaRPr sz="1800"/>
                    </a:p>
                    <a:p>
                      <a:pPr indent="-114300" lvl="0" marL="0" marR="0" rtl="0" algn="l">
                        <a:lnSpc>
                          <a:spcPct val="100000"/>
                        </a:lnSpc>
                        <a:spcBef>
                          <a:spcPts val="0"/>
                        </a:spcBef>
                        <a:spcAft>
                          <a:spcPts val="0"/>
                        </a:spcAft>
                        <a:buClr>
                          <a:srgbClr val="000000"/>
                        </a:buClr>
                        <a:buSzPts val="1800"/>
                        <a:buFont typeface="Calibri"/>
                        <a:buAutoNum type="arabicPeriod"/>
                      </a:pPr>
                      <a:r>
                        <a:rPr lang="en-US" sz="1800">
                          <a:solidFill>
                            <a:srgbClr val="000000"/>
                          </a:solidFill>
                          <a:latin typeface="Calibri"/>
                          <a:ea typeface="Calibri"/>
                          <a:cs typeface="Calibri"/>
                          <a:sym typeface="Calibri"/>
                        </a:rPr>
                        <a:t>Expandability</a:t>
                      </a:r>
                      <a:endParaRPr sz="1800"/>
                    </a:p>
                  </a:txBody>
                  <a:tcPr marT="45725" marB="45725" marR="91450" marL="91450"/>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4"/>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3200">
                <a:solidFill>
                  <a:srgbClr val="000000"/>
                </a:solidFill>
                <a:latin typeface="Calibri"/>
                <a:ea typeface="Calibri"/>
                <a:cs typeface="Calibri"/>
                <a:sym typeface="Calibri"/>
              </a:rPr>
              <a:t>Examples of measurable metrics for Non-functional requirements</a:t>
            </a:r>
            <a:endParaRPr sz="1800">
              <a:solidFill>
                <a:schemeClr val="dk1"/>
              </a:solidFill>
              <a:latin typeface="Calibri"/>
              <a:ea typeface="Calibri"/>
              <a:cs typeface="Calibri"/>
              <a:sym typeface="Calibri"/>
            </a:endParaRPr>
          </a:p>
        </p:txBody>
      </p:sp>
      <p:graphicFrame>
        <p:nvGraphicFramePr>
          <p:cNvPr id="509" name="Google Shape;509;p64"/>
          <p:cNvGraphicFramePr/>
          <p:nvPr/>
        </p:nvGraphicFramePr>
        <p:xfrm>
          <a:off x="457200" y="1600200"/>
          <a:ext cx="3000000" cy="3000000"/>
        </p:xfrm>
        <a:graphic>
          <a:graphicData uri="http://schemas.openxmlformats.org/drawingml/2006/table">
            <a:tbl>
              <a:tblPr>
                <a:noFill/>
                <a:tableStyleId>{FA417998-51A4-4FD3-8344-115FCE8B26E9}</a:tableStyleId>
              </a:tblPr>
              <a:tblGrid>
                <a:gridCol w="4114075"/>
                <a:gridCol w="4114075"/>
              </a:tblGrid>
              <a:tr h="628200">
                <a:tc>
                  <a:txBody>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Property</a:t>
                      </a:r>
                      <a:endParaRPr sz="1800"/>
                    </a:p>
                  </a:txBody>
                  <a:tcPr marT="45725" marB="45725" marR="91450" marL="91450"/>
                </a:tc>
                <a:tc>
                  <a:txBody>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Metric</a:t>
                      </a:r>
                      <a:endParaRPr sz="1800"/>
                    </a:p>
                    <a:p>
                      <a:pPr indent="0" lvl="0" marL="0" marR="0" rtl="0" algn="l">
                        <a:lnSpc>
                          <a:spcPct val="100000"/>
                        </a:lnSpc>
                        <a:spcBef>
                          <a:spcPts val="0"/>
                        </a:spcBef>
                        <a:spcAft>
                          <a:spcPts val="0"/>
                        </a:spcAft>
                        <a:buNone/>
                      </a:pPr>
                      <a:r>
                        <a:t/>
                      </a:r>
                      <a:endParaRPr sz="1800"/>
                    </a:p>
                  </a:txBody>
                  <a:tcPr marT="45725" marB="45725" marR="91450" marL="91450"/>
                </a:tc>
              </a:tr>
              <a:tr h="8964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Performance</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Processed transactions per second </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Response time to user input</a:t>
                      </a:r>
                      <a:endParaRPr sz="1800"/>
                    </a:p>
                  </a:txBody>
                  <a:tcPr marT="45725" marB="45725" marR="91450" marL="91450"/>
                </a:tc>
              </a:tr>
              <a:tr h="6282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Reliability</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MTTF, MTTR, MTBF</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Rate of occurrence of failure</a:t>
                      </a:r>
                      <a:endParaRPr sz="1800"/>
                    </a:p>
                  </a:txBody>
                  <a:tcPr marT="45725" marB="45725" marR="91450" marL="91450"/>
                </a:tc>
              </a:tr>
              <a:tr h="3600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Availability</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Probability of failure on demand </a:t>
                      </a:r>
                      <a:endParaRPr sz="1800"/>
                    </a:p>
                  </a:txBody>
                  <a:tcPr marT="45725" marB="45725" marR="91450" marL="91450"/>
                </a:tc>
              </a:tr>
              <a:tr h="3600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Size</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Kbytes, Mbytes </a:t>
                      </a:r>
                      <a:endParaRPr sz="1800"/>
                    </a:p>
                  </a:txBody>
                  <a:tcPr marT="45725" marB="45725" marR="91450" marL="91450"/>
                </a:tc>
              </a:tr>
              <a:tr h="8964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Usability</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Time taken to learn the software</a:t>
                      </a:r>
                      <a:endParaRPr sz="1800"/>
                    </a:p>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Number of errors made by user</a:t>
                      </a:r>
                      <a:endParaRPr sz="1800"/>
                    </a:p>
                  </a:txBody>
                  <a:tcPr marT="45725" marB="45725" marR="91450" marL="91450"/>
                </a:tc>
              </a:tr>
              <a:tr h="628200">
                <a:tc>
                  <a:txBody>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Robustness</a:t>
                      </a:r>
                      <a:endParaRPr sz="1800"/>
                    </a:p>
                  </a:txBody>
                  <a:tcPr marT="45725" marB="45725" marR="91450" marL="91450"/>
                </a:tc>
                <a:tc>
                  <a:txBody>
                    <a:bodyPr/>
                    <a:lstStyle/>
                    <a:p>
                      <a:pPr indent="-114300" lvl="0" marL="0" marR="0" rtl="0" algn="l">
                        <a:lnSpc>
                          <a:spcPct val="100000"/>
                        </a:lnSpc>
                        <a:spcBef>
                          <a:spcPts val="0"/>
                        </a:spcBef>
                        <a:spcAft>
                          <a:spcPts val="0"/>
                        </a:spcAft>
                        <a:buClr>
                          <a:srgbClr val="000000"/>
                        </a:buClr>
                        <a:buSzPts val="1800"/>
                        <a:buFont typeface="Noto Sans Symbols"/>
                        <a:buAutoNum type="arabicPeriod"/>
                      </a:pPr>
                      <a:r>
                        <a:rPr lang="en-US" sz="1800">
                          <a:solidFill>
                            <a:srgbClr val="000000"/>
                          </a:solidFill>
                          <a:latin typeface="Calibri"/>
                          <a:ea typeface="Calibri"/>
                          <a:cs typeface="Calibri"/>
                          <a:sym typeface="Calibri"/>
                        </a:rPr>
                        <a:t>Time to restart the system after failure</a:t>
                      </a:r>
                      <a:endParaRPr sz="1800"/>
                    </a:p>
                  </a:txBody>
                  <a:tcPr marT="45725" marB="45725" marR="91450" marL="91450"/>
                </a:tc>
              </a:tr>
              <a:tr h="4316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5"/>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3200">
                <a:solidFill>
                  <a:srgbClr val="000000"/>
                </a:solidFill>
                <a:latin typeface="Calibri"/>
                <a:ea typeface="Calibri"/>
                <a:cs typeface="Calibri"/>
                <a:sym typeface="Calibri"/>
              </a:rPr>
              <a:t>Nonfunctional Requirements: Trigger Questions</a:t>
            </a:r>
            <a:endParaRPr sz="1800">
              <a:solidFill>
                <a:schemeClr val="dk1"/>
              </a:solidFill>
              <a:latin typeface="Calibri"/>
              <a:ea typeface="Calibri"/>
              <a:cs typeface="Calibri"/>
              <a:sym typeface="Calibri"/>
            </a:endParaRPr>
          </a:p>
        </p:txBody>
      </p:sp>
      <p:sp>
        <p:nvSpPr>
          <p:cNvPr id="515" name="Google Shape;515;p65"/>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Performance characteristics </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Are there any speed, throughput, or response time constraints on the system?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Are there size or capacity constraints on the data to be processed by the system?</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6"/>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3200">
                <a:solidFill>
                  <a:srgbClr val="000000"/>
                </a:solidFill>
                <a:latin typeface="Calibri"/>
                <a:ea typeface="Calibri"/>
                <a:cs typeface="Calibri"/>
                <a:sym typeface="Calibri"/>
              </a:rPr>
              <a:t>Nonfunctional Requirements: Trigger Questions</a:t>
            </a:r>
            <a:endParaRPr sz="1800">
              <a:solidFill>
                <a:schemeClr val="dk1"/>
              </a:solidFill>
              <a:latin typeface="Calibri"/>
              <a:ea typeface="Calibri"/>
              <a:cs typeface="Calibri"/>
              <a:sym typeface="Calibri"/>
            </a:endParaRPr>
          </a:p>
        </p:txBody>
      </p:sp>
      <p:sp>
        <p:nvSpPr>
          <p:cNvPr id="521" name="Google Shape;521;p66"/>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Quality issues:</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 What are the requirements for reliability?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 What is the maximum time for restarting the system after a failure?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What is the acceptable system downtime per 24-hour period?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7"/>
          <p:cNvSpPr/>
          <p:nvPr/>
        </p:nvSpPr>
        <p:spPr>
          <a:xfrm>
            <a:off x="457200" y="274680"/>
            <a:ext cx="8227800" cy="1141200"/>
          </a:xfrm>
          <a:prstGeom prst="rect">
            <a:avLst/>
          </a:prstGeom>
          <a:noFill/>
          <a:ln>
            <a:noFill/>
          </a:ln>
        </p:spPr>
        <p:txBody>
          <a:bodyPr anchorCtr="1" anchor="ctr" bIns="45000" lIns="90000" spcFirstLastPara="1" rIns="90000" wrap="square" tIns="45000">
            <a:noAutofit/>
          </a:bodyPr>
          <a:lstStyle/>
          <a:p>
            <a:pPr indent="0" lvl="0" marL="0" marR="0" rtl="0" algn="ctr">
              <a:lnSpc>
                <a:spcPct val="100000"/>
              </a:lnSpc>
              <a:spcBef>
                <a:spcPts val="0"/>
              </a:spcBef>
              <a:spcAft>
                <a:spcPts val="0"/>
              </a:spcAft>
              <a:buNone/>
            </a:pPr>
            <a:r>
              <a:rPr lang="en-US" sz="3600">
                <a:solidFill>
                  <a:srgbClr val="000000"/>
                </a:solidFill>
                <a:latin typeface="Calibri"/>
                <a:ea typeface="Calibri"/>
                <a:cs typeface="Calibri"/>
                <a:sym typeface="Calibri"/>
              </a:rPr>
              <a:t>Nonfunctional Requirements: Trigger Questions</a:t>
            </a:r>
            <a:endParaRPr sz="1800">
              <a:solidFill>
                <a:schemeClr val="dk1"/>
              </a:solidFill>
              <a:latin typeface="Calibri"/>
              <a:ea typeface="Calibri"/>
              <a:cs typeface="Calibri"/>
              <a:sym typeface="Calibri"/>
            </a:endParaRPr>
          </a:p>
        </p:txBody>
      </p:sp>
      <p:sp>
        <p:nvSpPr>
          <p:cNvPr id="527" name="Google Shape;527;p67"/>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Resources and Management Issues:</a:t>
            </a:r>
            <a:endParaRPr sz="1800">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How often will the system be backed up?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Who will be responsible for the back up?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Who is responsible for system installation? </a:t>
            </a:r>
            <a:endParaRPr b="0" i="0" sz="1800" u="none" cap="none" strike="noStrike">
              <a:solidFill>
                <a:schemeClr val="dk1"/>
              </a:solidFill>
              <a:latin typeface="Calibri"/>
              <a:ea typeface="Calibri"/>
              <a:cs typeface="Calibri"/>
              <a:sym typeface="Calibri"/>
            </a:endParaRPr>
          </a:p>
          <a:p>
            <a:pPr indent="-177800" lvl="1"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Who will be responsible for system maintenance?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8"/>
          <p:cNvSpPr/>
          <p:nvPr/>
        </p:nvSpPr>
        <p:spPr>
          <a:xfrm>
            <a:off x="457200" y="274680"/>
            <a:ext cx="7291440" cy="114120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Domain requirements</a:t>
            </a:r>
            <a:endParaRPr sz="1800">
              <a:solidFill>
                <a:schemeClr val="dk1"/>
              </a:solidFill>
              <a:latin typeface="Calibri"/>
              <a:ea typeface="Calibri"/>
              <a:cs typeface="Calibri"/>
              <a:sym typeface="Calibri"/>
            </a:endParaRPr>
          </a:p>
        </p:txBody>
      </p:sp>
      <p:sp>
        <p:nvSpPr>
          <p:cNvPr id="533" name="Google Shape;533;p68"/>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The system’s operational domain imposes requirements on the system.</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For example, a train control system has to take into account the braking characteristics in different weather conditions.</a:t>
            </a:r>
            <a:endParaRPr b="0" i="0" sz="1800" u="none" cap="none" strike="noStrike">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Domain requirements be new functional requirements, constraints on existing requirements or define specific computations.</a:t>
            </a:r>
            <a:endParaRPr sz="1800">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If domain requirements are not satisfied, the system may be unworkable.</a:t>
            </a:r>
            <a:endParaRPr sz="1800">
              <a:solidFill>
                <a:schemeClr val="dk1"/>
              </a:solidFill>
              <a:latin typeface="Calibri"/>
              <a:ea typeface="Calibri"/>
              <a:cs typeface="Calibri"/>
              <a:sym typeface="Calibri"/>
            </a:endParaRPr>
          </a:p>
        </p:txBody>
      </p:sp>
      <p:sp>
        <p:nvSpPr>
          <p:cNvPr id="534" name="Google Shape;534;p68"/>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9"/>
          <p:cNvSpPr/>
          <p:nvPr/>
        </p:nvSpPr>
        <p:spPr>
          <a:xfrm>
            <a:off x="457200" y="274680"/>
            <a:ext cx="7291440" cy="114120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r>
              <a:rPr b="1" lang="en-US" sz="2400">
                <a:solidFill>
                  <a:srgbClr val="46424D"/>
                </a:solidFill>
                <a:latin typeface="Arial"/>
                <a:ea typeface="Arial"/>
                <a:cs typeface="Arial"/>
                <a:sym typeface="Arial"/>
              </a:rPr>
              <a:t>Train protection system</a:t>
            </a:r>
            <a:endParaRPr sz="1800">
              <a:solidFill>
                <a:schemeClr val="dk1"/>
              </a:solidFill>
              <a:latin typeface="Calibri"/>
              <a:ea typeface="Calibri"/>
              <a:cs typeface="Calibri"/>
              <a:sym typeface="Calibri"/>
            </a:endParaRPr>
          </a:p>
        </p:txBody>
      </p:sp>
      <p:sp>
        <p:nvSpPr>
          <p:cNvPr id="540" name="Google Shape;540;p69"/>
          <p:cNvSpPr/>
          <p:nvPr/>
        </p:nvSpPr>
        <p:spPr>
          <a:xfrm>
            <a:off x="457200" y="1600200"/>
            <a:ext cx="8227800" cy="4524120"/>
          </a:xfrm>
          <a:prstGeom prst="rect">
            <a:avLst/>
          </a:prstGeom>
          <a:noFill/>
          <a:ln>
            <a:noFill/>
          </a:ln>
        </p:spPr>
        <p:txBody>
          <a:bodyPr anchorCtr="1" anchor="t" bIns="45000" lIns="90000" spcFirstLastPara="1" rIns="90000" wrap="square" tIns="45000">
            <a:noAutofit/>
          </a:bodyPr>
          <a:lstStyle/>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This is a domain requirement for a train protection system:</a:t>
            </a:r>
            <a:endParaRPr sz="1800">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The deceleration of the train shall be computed as:</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Dtrain = Dcontrol + Dgradient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rgbClr val="46424D"/>
              </a:buClr>
              <a:buSzPts val="2000"/>
              <a:buFont typeface="Noto Sans Symbols"/>
              <a:buChar char="▪"/>
            </a:pPr>
            <a:r>
              <a:rPr b="0" i="0" lang="en-US" sz="2000" u="none" cap="none" strike="noStrike">
                <a:solidFill>
                  <a:srgbClr val="46424D"/>
                </a:solidFill>
                <a:latin typeface="Arial"/>
                <a:ea typeface="Arial"/>
                <a:cs typeface="Arial"/>
                <a:sym typeface="Arial"/>
              </a:rPr>
              <a:t>where Dgradient is 9.81ms2 * compensated gradient/alpha and where the values of 9.81ms2 /alpha are known for different types of train.</a:t>
            </a:r>
            <a:endParaRPr b="0" i="0" sz="1800" u="none" cap="none" strike="noStrike">
              <a:solidFill>
                <a:schemeClr val="dk1"/>
              </a:solidFill>
              <a:latin typeface="Calibri"/>
              <a:ea typeface="Calibri"/>
              <a:cs typeface="Calibri"/>
              <a:sym typeface="Calibri"/>
            </a:endParaRPr>
          </a:p>
          <a:p>
            <a:pPr indent="-152400" lvl="0" marL="0" marR="0" rtl="0" algn="l">
              <a:lnSpc>
                <a:spcPct val="100000"/>
              </a:lnSpc>
              <a:spcBef>
                <a:spcPts val="0"/>
              </a:spcBef>
              <a:spcAft>
                <a:spcPts val="0"/>
              </a:spcAft>
              <a:buClr>
                <a:srgbClr val="46424D"/>
              </a:buClr>
              <a:buSzPts val="2400"/>
              <a:buFont typeface="Noto Sans Symbols"/>
              <a:buChar char="✧"/>
            </a:pPr>
            <a:r>
              <a:rPr lang="en-US" sz="2400">
                <a:solidFill>
                  <a:srgbClr val="46424D"/>
                </a:solidFill>
                <a:latin typeface="Arial"/>
                <a:ea typeface="Arial"/>
                <a:cs typeface="Arial"/>
                <a:sym typeface="Arial"/>
              </a:rPr>
              <a:t>It is difficult for a non-specialist to understand the implications of this and how it interacts with other requirements.</a:t>
            </a:r>
            <a:endParaRPr sz="1800">
              <a:solidFill>
                <a:schemeClr val="dk1"/>
              </a:solidFill>
              <a:latin typeface="Calibri"/>
              <a:ea typeface="Calibri"/>
              <a:cs typeface="Calibri"/>
              <a:sym typeface="Calibri"/>
            </a:endParaRPr>
          </a:p>
        </p:txBody>
      </p:sp>
      <p:sp>
        <p:nvSpPr>
          <p:cNvPr id="541" name="Google Shape;541;p69"/>
          <p:cNvSpPr/>
          <p:nvPr/>
        </p:nvSpPr>
        <p:spPr>
          <a:xfrm>
            <a:off x="6553080" y="6356520"/>
            <a:ext cx="2131920" cy="363240"/>
          </a:xfrm>
          <a:prstGeom prst="rect">
            <a:avLst/>
          </a:prstGeom>
          <a:no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0"/>
          <p:cNvSpPr/>
          <p:nvPr/>
        </p:nvSpPr>
        <p:spPr>
          <a:xfrm>
            <a:off x="457200" y="0"/>
            <a:ext cx="8228520" cy="1370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Software Requirements Specification</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800">
                <a:solidFill>
                  <a:schemeClr val="dk1"/>
                </a:solidFill>
                <a:latin typeface="Arial"/>
                <a:ea typeface="Arial"/>
                <a:cs typeface="Arial"/>
                <a:sym typeface="Arial"/>
              </a:rPr>
              <a:t>For &lt;Project&gt; with IEEE Standard</a:t>
            </a:r>
            <a:endParaRPr sz="1800">
              <a:solidFill>
                <a:schemeClr val="dk1"/>
              </a:solidFill>
              <a:latin typeface="Calibri"/>
              <a:ea typeface="Calibri"/>
              <a:cs typeface="Calibri"/>
              <a:sym typeface="Calibri"/>
            </a:endParaRPr>
          </a:p>
        </p:txBody>
      </p:sp>
      <p:sp>
        <p:nvSpPr>
          <p:cNvPr id="547" name="Google Shape;547;p70"/>
          <p:cNvSpPr/>
          <p:nvPr/>
        </p:nvSpPr>
        <p:spPr>
          <a:xfrm>
            <a:off x="457200" y="1604520"/>
            <a:ext cx="8228520" cy="3976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03200" lvl="0" marL="0" marR="0" rtl="0" algn="l">
              <a:lnSpc>
                <a:spcPct val="100000"/>
              </a:lnSpc>
              <a:spcBef>
                <a:spcPts val="0"/>
              </a:spcBef>
              <a:spcAft>
                <a:spcPts val="0"/>
              </a:spcAft>
              <a:buClr>
                <a:schemeClr val="dk1"/>
              </a:buClr>
              <a:buSzPts val="3200"/>
              <a:buFont typeface="Arial"/>
              <a:buAutoNum type="arabicPeriod"/>
            </a:pPr>
            <a:r>
              <a:rPr lang="en-US" sz="3200">
                <a:solidFill>
                  <a:schemeClr val="dk1"/>
                </a:solidFill>
                <a:latin typeface="Arial"/>
                <a:ea typeface="Arial"/>
                <a:cs typeface="Arial"/>
                <a:sym typeface="Arial"/>
              </a:rPr>
              <a:t> Introduction</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400">
                <a:solidFill>
                  <a:schemeClr val="dk1"/>
                </a:solidFill>
                <a:latin typeface="Arial"/>
                <a:ea typeface="Arial"/>
                <a:cs typeface="Arial"/>
                <a:sym typeface="Arial"/>
              </a:rPr>
              <a:t>1.1	Purpose: </a:t>
            </a:r>
            <a:r>
              <a:rPr lang="en-US" sz="2400">
                <a:solidFill>
                  <a:srgbClr val="000000"/>
                </a:solidFill>
                <a:latin typeface="Arial"/>
                <a:ea typeface="Arial"/>
                <a:cs typeface="Arial"/>
                <a:sym typeface="Arial"/>
              </a:rPr>
              <a:t> describe the purpose of this document, not </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2400">
                <a:solidFill>
                  <a:srgbClr val="000000"/>
                </a:solidFill>
                <a:latin typeface="Arial"/>
                <a:ea typeface="Arial"/>
                <a:cs typeface="Arial"/>
                <a:sym typeface="Arial"/>
              </a:rPr>
              <a:t>      the purpose of the software being developed.</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2400">
                <a:solidFill>
                  <a:srgbClr val="000000"/>
                </a:solidFill>
                <a:latin typeface="Arial"/>
                <a:ea typeface="Arial"/>
                <a:cs typeface="Arial"/>
                <a:sym typeface="Arial"/>
              </a:rPr>
              <a:t>1.2	Scope: describe the scope of this document, not the </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2400">
                <a:solidFill>
                  <a:srgbClr val="000000"/>
                </a:solidFill>
                <a:latin typeface="Arial"/>
                <a:ea typeface="Arial"/>
                <a:cs typeface="Arial"/>
                <a:sym typeface="Arial"/>
              </a:rPr>
              <a:t>        scope of the software being developed.</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2400">
                <a:solidFill>
                  <a:srgbClr val="000000"/>
                </a:solidFill>
                <a:latin typeface="Arial"/>
                <a:ea typeface="Arial"/>
                <a:cs typeface="Arial"/>
                <a:sym typeface="Arial"/>
              </a:rPr>
              <a:t>   1.3	</a:t>
            </a:r>
            <a:r>
              <a:rPr lang="en-US" sz="2400">
                <a:solidFill>
                  <a:srgbClr val="000000"/>
                </a:solidFill>
                <a:latin typeface="Times"/>
                <a:ea typeface="Times"/>
                <a:cs typeface="Times"/>
                <a:sym typeface="Times"/>
              </a:rPr>
              <a:t>Definitions, Acronyms, and Abbreviations.</a:t>
            </a:r>
            <a:r>
              <a:rPr lang="en-US" sz="2400">
                <a:solidFill>
                  <a:srgbClr val="000000"/>
                </a:solidFill>
                <a:latin typeface="Arial"/>
                <a:ea typeface="Arial"/>
                <a:cs typeface="Arial"/>
                <a:sym typeface="Arial"/>
              </a:rPr>
              <a:t>:</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2400">
                <a:solidFill>
                  <a:srgbClr val="000000"/>
                </a:solidFill>
                <a:latin typeface="Arial"/>
                <a:ea typeface="Arial"/>
                <a:cs typeface="Arial"/>
                <a:sym typeface="Arial"/>
              </a:rPr>
              <a:t>   1.4   </a:t>
            </a:r>
            <a:r>
              <a:rPr lang="en-US" sz="2400">
                <a:solidFill>
                  <a:srgbClr val="000000"/>
                </a:solidFill>
                <a:latin typeface="Times"/>
                <a:ea typeface="Times"/>
                <a:cs typeface="Times"/>
                <a:sym typeface="Times"/>
              </a:rPr>
              <a:t>Overview</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2400">
                <a:solidFill>
                  <a:srgbClr val="000000"/>
                </a:solidFill>
                <a:latin typeface="Arial"/>
                <a:ea typeface="Arial"/>
                <a:cs typeface="Arial"/>
                <a:sym typeface="Arial"/>
              </a:rPr>
              <a:t>   1.5   References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1"/>
          <p:cNvSpPr/>
          <p:nvPr/>
        </p:nvSpPr>
        <p:spPr>
          <a:xfrm>
            <a:off x="457200" y="273600"/>
            <a:ext cx="8228520" cy="1144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1" lang="en-US" sz="3200">
                <a:solidFill>
                  <a:srgbClr val="000000"/>
                </a:solidFill>
                <a:latin typeface="Times"/>
                <a:ea typeface="Times"/>
                <a:cs typeface="Times"/>
                <a:sym typeface="Times"/>
              </a:rPr>
              <a:t>Hotel Management System Software Requirements Specifications</a:t>
            </a:r>
            <a:endParaRPr sz="1800">
              <a:solidFill>
                <a:schemeClr val="dk1"/>
              </a:solidFill>
              <a:latin typeface="Calibri"/>
              <a:ea typeface="Calibri"/>
              <a:cs typeface="Calibri"/>
              <a:sym typeface="Calibri"/>
            </a:endParaRPr>
          </a:p>
        </p:txBody>
      </p:sp>
      <p:sp>
        <p:nvSpPr>
          <p:cNvPr id="553" name="Google Shape;553;p71"/>
          <p:cNvSpPr/>
          <p:nvPr/>
        </p:nvSpPr>
        <p:spPr>
          <a:xfrm>
            <a:off x="457200" y="1603800"/>
            <a:ext cx="8228520" cy="4887720"/>
          </a:xfrm>
          <a:prstGeom prst="rect">
            <a:avLst/>
          </a:prstGeom>
          <a:noFill/>
          <a:ln>
            <a:noFill/>
          </a:ln>
        </p:spPr>
        <p:txBody>
          <a:bodyPr anchorCtr="0" anchor="ctr" bIns="0" lIns="0" spcFirstLastPara="1" rIns="0" wrap="square" tIns="0">
            <a:noAutofit/>
          </a:bodyPr>
          <a:lstStyle/>
          <a:p>
            <a:pPr indent="-74295" lvl="0" marL="0" marR="0" rtl="0" algn="l">
              <a:lnSpc>
                <a:spcPct val="100000"/>
              </a:lnSpc>
              <a:spcBef>
                <a:spcPts val="0"/>
              </a:spcBef>
              <a:spcAft>
                <a:spcPts val="0"/>
              </a:spcAft>
              <a:buClr>
                <a:schemeClr val="dk1"/>
              </a:buClr>
              <a:buSzPts val="1170"/>
              <a:buFont typeface="Noto Sans Symbols"/>
              <a:buChar char="l"/>
            </a:pPr>
            <a:r>
              <a:rPr lang="en-US" sz="2600">
                <a:solidFill>
                  <a:schemeClr val="dk1"/>
                </a:solidFill>
                <a:latin typeface="Arial"/>
                <a:ea typeface="Arial"/>
                <a:cs typeface="Arial"/>
                <a:sym typeface="Arial"/>
              </a:rPr>
              <a:t>1. </a:t>
            </a:r>
            <a:r>
              <a:rPr lang="en-US" sz="2600" u="sng">
                <a:solidFill>
                  <a:schemeClr val="dk1"/>
                </a:solidFill>
                <a:latin typeface="Arial"/>
                <a:ea typeface="Arial"/>
                <a:cs typeface="Arial"/>
                <a:sym typeface="Arial"/>
              </a:rPr>
              <a:t>Introduction</a:t>
            </a:r>
            <a:r>
              <a:rPr lang="en-US" sz="2600">
                <a:solidFill>
                  <a:schemeClr val="dk1"/>
                </a:solidFill>
                <a:latin typeface="Arial"/>
                <a:ea typeface="Arial"/>
                <a:cs typeface="Arial"/>
                <a:sym typeface="Arial"/>
              </a:rPr>
              <a:t>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The following subsections of the Software Requirements Specifications (SRS) document provide an overview of the entire SRS.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Arial"/>
                <a:ea typeface="Arial"/>
                <a:cs typeface="Arial"/>
                <a:sym typeface="Arial"/>
              </a:rPr>
              <a:t>1.1</a:t>
            </a:r>
            <a:r>
              <a:rPr b="1" lang="en-US" sz="2000" u="sng">
                <a:solidFill>
                  <a:srgbClr val="000000"/>
                </a:solidFill>
                <a:latin typeface="Times"/>
                <a:ea typeface="Times"/>
                <a:cs typeface="Times"/>
                <a:sym typeface="Times"/>
              </a:rPr>
              <a:t>Purpose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rgbClr val="000000"/>
                </a:solidFill>
                <a:latin typeface="Arial"/>
                <a:ea typeface="Arial"/>
                <a:cs typeface="Arial"/>
                <a:sym typeface="Arial"/>
              </a:rPr>
              <a:t>The Software Requirements Specification (SRS) will provide a detailed description of the requirements for the Hotel Management System (HMS).  This SRS will allow for a complete understanding of what is to be expected of the HMS to be constructed. The clear understanding of the HMS and its’ functionality will allow for the correct software to be developed for the end user and will be used for the development of the future stages of the project. This SRS will provide the foundation for the project. From this SRS, the HMS can be designed, constructed, and finally tested.</a:t>
            </a:r>
            <a:endParaRPr sz="1800">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2"/>
          <p:cNvSpPr/>
          <p:nvPr/>
        </p:nvSpPr>
        <p:spPr>
          <a:xfrm>
            <a:off x="457200" y="273600"/>
            <a:ext cx="82285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1" lang="en-US" sz="2200">
                <a:solidFill>
                  <a:srgbClr val="000000"/>
                </a:solidFill>
                <a:latin typeface="Times"/>
                <a:ea typeface="Times"/>
                <a:cs typeface="Times"/>
                <a:sym typeface="Times"/>
              </a:rPr>
              <a:t>Hotel Management System Software Requirements Specifications</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b="1" i="1" lang="en-US" sz="3200">
                <a:solidFill>
                  <a:srgbClr val="000000"/>
                </a:solidFill>
                <a:latin typeface="Times"/>
                <a:ea typeface="Times"/>
                <a:cs typeface="Times"/>
                <a:sym typeface="Times"/>
              </a:rPr>
              <a:t>1.2	Scope</a:t>
            </a:r>
            <a:endParaRPr sz="1800">
              <a:solidFill>
                <a:schemeClr val="dk1"/>
              </a:solidFill>
              <a:latin typeface="Calibri"/>
              <a:ea typeface="Calibri"/>
              <a:cs typeface="Calibri"/>
              <a:sym typeface="Calibri"/>
            </a:endParaRPr>
          </a:p>
        </p:txBody>
      </p:sp>
      <p:sp>
        <p:nvSpPr>
          <p:cNvPr id="559" name="Google Shape;559;p72"/>
          <p:cNvSpPr/>
          <p:nvPr/>
        </p:nvSpPr>
        <p:spPr>
          <a:xfrm>
            <a:off x="91440" y="1280160"/>
            <a:ext cx="8868960" cy="5751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The software product to be produced is a Hotel Management System which will automate the major hotel operations.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Arial"/>
                <a:ea typeface="Arial"/>
                <a:cs typeface="Arial"/>
                <a:sym typeface="Arial"/>
              </a:rPr>
              <a:t>The first subsystem is a Reservation and Booking System to keep track of reservations and room availability.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Arial"/>
                <a:ea typeface="Arial"/>
                <a:cs typeface="Arial"/>
                <a:sym typeface="Arial"/>
              </a:rPr>
              <a:t>The second subsystem is the Tracking and Selling Food System that charges the current room.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Arial"/>
                <a:ea typeface="Arial"/>
                <a:cs typeface="Arial"/>
                <a:sym typeface="Arial"/>
              </a:rPr>
              <a:t>The third subsystem is a General Management Services and Automated Tasks System which generates reports to audit all hotel operations and allows modification of subsystem information.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Arial"/>
                <a:ea typeface="Arial"/>
                <a:cs typeface="Arial"/>
                <a:sym typeface="Arial"/>
              </a:rPr>
              <a:t>These three subsystems’ functionality will be described in detail in section 2-Overall Description.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Arial"/>
                <a:ea typeface="Arial"/>
                <a:cs typeface="Arial"/>
                <a:sym typeface="Arial"/>
              </a:rPr>
              <a:t>There are two end users for the HMS.  The end users are the hotel staff (customer service representative) and hotel managers.  Both user types can access the Reservation and Booking System and the Food Tracking and Selling System.  The General Management System will be restricted to management users. </a:t>
            </a:r>
            <a:endParaRPr sz="1800">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73"/>
          <p:cNvSpPr/>
          <p:nvPr/>
        </p:nvSpPr>
        <p:spPr>
          <a:xfrm>
            <a:off x="457200" y="268560"/>
            <a:ext cx="8228520" cy="1154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1" lang="en-US" sz="2400">
                <a:solidFill>
                  <a:srgbClr val="000000"/>
                </a:solidFill>
                <a:latin typeface="Times"/>
                <a:ea typeface="Times"/>
                <a:cs typeface="Times"/>
                <a:sym typeface="Times"/>
              </a:rPr>
              <a:t>Hotel Management System Software Requirements Specifications</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2400">
                <a:solidFill>
                  <a:srgbClr val="000000"/>
                </a:solidFill>
                <a:latin typeface="Arial"/>
                <a:ea typeface="Arial"/>
                <a:cs typeface="Arial"/>
                <a:sym typeface="Arial"/>
              </a:rPr>
              <a:t>1.3	</a:t>
            </a:r>
            <a:r>
              <a:rPr lang="en-US" sz="2400">
                <a:solidFill>
                  <a:srgbClr val="000000"/>
                </a:solidFill>
                <a:latin typeface="Times"/>
                <a:ea typeface="Times"/>
                <a:cs typeface="Times"/>
                <a:sym typeface="Times"/>
              </a:rPr>
              <a:t>Definitions, Acronyms, and Abbreviations.</a:t>
            </a:r>
            <a:endParaRPr sz="1800">
              <a:solidFill>
                <a:schemeClr val="dk1"/>
              </a:solidFill>
              <a:latin typeface="Calibri"/>
              <a:ea typeface="Calibri"/>
              <a:cs typeface="Calibri"/>
              <a:sym typeface="Calibri"/>
            </a:endParaRPr>
          </a:p>
        </p:txBody>
      </p:sp>
      <p:sp>
        <p:nvSpPr>
          <p:cNvPr id="565" name="Google Shape;565;p73"/>
          <p:cNvSpPr/>
          <p:nvPr/>
        </p:nvSpPr>
        <p:spPr>
          <a:xfrm>
            <a:off x="457200" y="1604520"/>
            <a:ext cx="8228520" cy="3976560"/>
          </a:xfrm>
          <a:prstGeom prst="rect">
            <a:avLst/>
          </a:prstGeom>
          <a:noFill/>
          <a:ln>
            <a:noFill/>
          </a:ln>
        </p:spPr>
        <p:txBody>
          <a:bodyPr anchorCtr="0" anchor="ctr" bIns="0" lIns="0" spcFirstLastPara="1" rIns="0" wrap="square" tIns="0">
            <a:noAutofit/>
          </a:bodyPr>
          <a:lstStyle/>
          <a:p>
            <a:pPr indent="0" lvl="0" marL="457200" marR="0" rtl="0" algn="l">
              <a:lnSpc>
                <a:spcPct val="100000"/>
              </a:lnSpc>
              <a:spcBef>
                <a:spcPts val="0"/>
              </a:spcBef>
              <a:spcAft>
                <a:spcPts val="0"/>
              </a:spcAft>
              <a:buNone/>
            </a:pPr>
            <a:r>
              <a:rPr b="0" i="0" lang="en-US" sz="3200" u="sng" cap="none" strike="noStrike">
                <a:solidFill>
                  <a:schemeClr val="dk1"/>
                </a:solidFill>
                <a:latin typeface="Arial"/>
                <a:ea typeface="Arial"/>
                <a:cs typeface="Arial"/>
                <a:sym typeface="Arial"/>
              </a:rPr>
              <a:t>Definitions, Acronyms, and Abbreviations:</a:t>
            </a:r>
            <a:r>
              <a:rPr b="0" i="0" lang="en-US" sz="3200" u="none" cap="none" strike="noStrike">
                <a:solidFill>
                  <a:schemeClr val="dk1"/>
                </a:solidFill>
                <a:latin typeface="Arial"/>
                <a:ea typeface="Arial"/>
                <a:cs typeface="Arial"/>
                <a:sym typeface="Arial"/>
              </a:rPr>
              <a:t>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3200">
                <a:solidFill>
                  <a:schemeClr val="dk1"/>
                </a:solidFill>
                <a:latin typeface="Arial"/>
                <a:ea typeface="Arial"/>
                <a:cs typeface="Arial"/>
                <a:sym typeface="Arial"/>
              </a:rPr>
              <a:t>SRS – Software Requirements Specification</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3200">
                <a:solidFill>
                  <a:schemeClr val="dk1"/>
                </a:solidFill>
                <a:latin typeface="Arial"/>
                <a:ea typeface="Arial"/>
                <a:cs typeface="Arial"/>
                <a:sym typeface="Arial"/>
              </a:rPr>
              <a:t>HMS – Hotel Management System</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3200">
                <a:solidFill>
                  <a:schemeClr val="dk1"/>
                </a:solidFill>
                <a:latin typeface="Arial"/>
                <a:ea typeface="Arial"/>
                <a:cs typeface="Arial"/>
                <a:sym typeface="Arial"/>
              </a:rPr>
              <a:t>Subjective satisfaction – The overall satisfaction of the system</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3200">
                <a:solidFill>
                  <a:schemeClr val="dk1"/>
                </a:solidFill>
                <a:latin typeface="Arial"/>
                <a:ea typeface="Arial"/>
                <a:cs typeface="Arial"/>
                <a:sym typeface="Arial"/>
              </a:rPr>
              <a:t>End users – The people who will be actually using the system</a:t>
            </a:r>
            <a:endParaRPr sz="1800">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74"/>
          <p:cNvSpPr/>
          <p:nvPr/>
        </p:nvSpPr>
        <p:spPr>
          <a:xfrm>
            <a:off x="457200" y="273600"/>
            <a:ext cx="8228520" cy="1144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1" lang="en-US" sz="2000">
                <a:solidFill>
                  <a:srgbClr val="000000"/>
                </a:solidFill>
                <a:latin typeface="Times"/>
                <a:ea typeface="Times"/>
                <a:cs typeface="Times"/>
                <a:sym typeface="Times"/>
              </a:rPr>
              <a:t>Hotel Management System Software Requirements Specifications</a:t>
            </a:r>
            <a:endParaRPr sz="1800">
              <a:solidFill>
                <a:schemeClr val="dk1"/>
              </a:solidFill>
              <a:latin typeface="Calibri"/>
              <a:ea typeface="Calibri"/>
              <a:cs typeface="Calibri"/>
              <a:sym typeface="Calibri"/>
            </a:endParaRPr>
          </a:p>
          <a:p>
            <a:pPr indent="0" lvl="0" marL="457200" marR="0" rtl="0" algn="ctr">
              <a:lnSpc>
                <a:spcPct val="100000"/>
              </a:lnSpc>
              <a:spcBef>
                <a:spcPts val="0"/>
              </a:spcBef>
              <a:spcAft>
                <a:spcPts val="0"/>
              </a:spcAft>
              <a:buNone/>
            </a:pPr>
            <a:r>
              <a:rPr b="1" i="1" lang="en-US" sz="2800" u="none" cap="none" strike="noStrike">
                <a:solidFill>
                  <a:srgbClr val="000000"/>
                </a:solidFill>
                <a:latin typeface="Times"/>
                <a:ea typeface="Times"/>
                <a:cs typeface="Times"/>
                <a:sym typeface="Times"/>
              </a:rPr>
              <a:t>1.</a:t>
            </a:r>
            <a:r>
              <a:rPr b="1" i="1" lang="en-US" sz="2800" u="none" cap="none" strike="noStrike">
                <a:solidFill>
                  <a:srgbClr val="000000"/>
                </a:solidFill>
                <a:latin typeface="Times"/>
                <a:ea typeface="Times"/>
                <a:cs typeface="Times"/>
                <a:sym typeface="Times"/>
              </a:rPr>
              <a:t>4 </a:t>
            </a:r>
            <a:r>
              <a:rPr b="1" i="0" lang="en-US" sz="2800" u="none" cap="none" strike="noStrike">
                <a:solidFill>
                  <a:srgbClr val="000000"/>
                </a:solidFill>
                <a:latin typeface="Times"/>
                <a:ea typeface="Times"/>
                <a:cs typeface="Times"/>
                <a:sym typeface="Times"/>
              </a:rPr>
              <a:t>Overview  </a:t>
            </a:r>
            <a:endParaRPr b="0" i="0" sz="1800" u="none" cap="none" strike="noStrike">
              <a:solidFill>
                <a:schemeClr val="dk1"/>
              </a:solidFill>
              <a:latin typeface="Calibri"/>
              <a:ea typeface="Calibri"/>
              <a:cs typeface="Calibri"/>
              <a:sym typeface="Calibri"/>
            </a:endParaRPr>
          </a:p>
        </p:txBody>
      </p:sp>
      <p:sp>
        <p:nvSpPr>
          <p:cNvPr id="571" name="Google Shape;571;p74"/>
          <p:cNvSpPr/>
          <p:nvPr/>
        </p:nvSpPr>
        <p:spPr>
          <a:xfrm>
            <a:off x="274320" y="1542240"/>
            <a:ext cx="8594640" cy="5040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The SRS is organized into two main sections.  The first is The Overall Description and the second is the Specific Requirements. </a:t>
            </a:r>
            <a:r>
              <a:rPr lang="en-US" sz="3200">
                <a:solidFill>
                  <a:schemeClr val="dk1"/>
                </a:solidFill>
                <a:latin typeface="Arial"/>
                <a:ea typeface="Arial"/>
                <a:cs typeface="Arial"/>
                <a:sym typeface="Arial"/>
              </a:rPr>
              <a: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800">
                <a:solidFill>
                  <a:schemeClr val="dk1"/>
                </a:solidFill>
                <a:latin typeface="Arial"/>
                <a:ea typeface="Arial"/>
                <a:cs typeface="Arial"/>
                <a:sym typeface="Arial"/>
              </a:rPr>
              <a:t>The Overall Description will describe the requirements of the HMS from a general high level perspective.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800">
                <a:solidFill>
                  <a:schemeClr val="dk1"/>
                </a:solidFill>
                <a:latin typeface="Arial"/>
                <a:ea typeface="Arial"/>
                <a:cs typeface="Arial"/>
                <a:sym typeface="Arial"/>
              </a:rPr>
              <a:t>The Specific Requirements section will describe in detail the requirements of the system.</a:t>
            </a:r>
            <a:endParaRPr sz="1800">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5"/>
          <p:cNvSpPr/>
          <p:nvPr/>
        </p:nvSpPr>
        <p:spPr>
          <a:xfrm>
            <a:off x="457200" y="249120"/>
            <a:ext cx="8228520" cy="119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Software Requirements Specification</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2800">
                <a:solidFill>
                  <a:schemeClr val="dk1"/>
                </a:solidFill>
                <a:latin typeface="Arial"/>
                <a:ea typeface="Arial"/>
                <a:cs typeface="Arial"/>
                <a:sym typeface="Arial"/>
              </a:rPr>
              <a:t>For &lt;Project&gt; with IEEE Standard</a:t>
            </a:r>
            <a:endParaRPr sz="1800">
              <a:solidFill>
                <a:schemeClr val="dk1"/>
              </a:solidFill>
              <a:latin typeface="Calibri"/>
              <a:ea typeface="Calibri"/>
              <a:cs typeface="Calibri"/>
              <a:sym typeface="Calibri"/>
            </a:endParaRPr>
          </a:p>
        </p:txBody>
      </p:sp>
      <p:sp>
        <p:nvSpPr>
          <p:cNvPr id="577" name="Google Shape;577;p75"/>
          <p:cNvSpPr/>
          <p:nvPr/>
        </p:nvSpPr>
        <p:spPr>
          <a:xfrm>
            <a:off x="457200" y="1604520"/>
            <a:ext cx="8228520" cy="4704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2800">
                <a:solidFill>
                  <a:srgbClr val="000000"/>
                </a:solidFill>
                <a:latin typeface="Times"/>
                <a:ea typeface="Times"/>
                <a:cs typeface="Times"/>
                <a:sym typeface="Times"/>
              </a:rPr>
              <a:t>2. The Overall Description  </a:t>
            </a:r>
            <a:endParaRPr sz="18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rPr b="1" i="0" lang="en-US" sz="2800" u="none" cap="none" strike="noStrike">
                <a:solidFill>
                  <a:srgbClr val="000000"/>
                </a:solidFill>
                <a:latin typeface="Times"/>
                <a:ea typeface="Times"/>
                <a:cs typeface="Times"/>
                <a:sym typeface="Times"/>
              </a:rPr>
              <a:t>    2.1 Product Perspective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2800">
                <a:solidFill>
                  <a:srgbClr val="000000"/>
                </a:solidFill>
                <a:latin typeface="Times"/>
                <a:ea typeface="Times"/>
                <a:cs typeface="Times"/>
                <a:sym typeface="Times"/>
              </a:rPr>
              <a:t>               2.1.1    Hardware Interfaces</a:t>
            </a:r>
            <a:endParaRPr sz="1800">
              <a:solidFill>
                <a:schemeClr val="dk1"/>
              </a:solidFill>
              <a:latin typeface="Calibri"/>
              <a:ea typeface="Calibri"/>
              <a:cs typeface="Calibri"/>
              <a:sym typeface="Calibri"/>
            </a:endParaRPr>
          </a:p>
          <a:p>
            <a:pPr indent="0" lvl="0" marL="914400" marR="0" rtl="0" algn="l">
              <a:lnSpc>
                <a:spcPct val="100000"/>
              </a:lnSpc>
              <a:spcBef>
                <a:spcPts val="0"/>
              </a:spcBef>
              <a:spcAft>
                <a:spcPts val="0"/>
              </a:spcAft>
              <a:buNone/>
            </a:pPr>
            <a:r>
              <a:rPr b="1" i="0" lang="en-US" sz="2800" u="none" cap="none" strike="noStrike">
                <a:solidFill>
                  <a:srgbClr val="000000"/>
                </a:solidFill>
                <a:latin typeface="Times"/>
                <a:ea typeface="Times"/>
                <a:cs typeface="Times"/>
                <a:sym typeface="Times"/>
              </a:rPr>
              <a:t>       2.1.2    Software Interfaces </a:t>
            </a:r>
            <a:endParaRPr b="0" i="0" sz="1800" u="none" cap="none" strike="noStrike">
              <a:solidFill>
                <a:schemeClr val="dk1"/>
              </a:solidFill>
              <a:latin typeface="Calibri"/>
              <a:ea typeface="Calibri"/>
              <a:cs typeface="Calibri"/>
              <a:sym typeface="Calibri"/>
            </a:endParaRPr>
          </a:p>
          <a:p>
            <a:pPr indent="0" lvl="0" marL="914400" marR="0" rtl="0" algn="l">
              <a:lnSpc>
                <a:spcPct val="100000"/>
              </a:lnSpc>
              <a:spcBef>
                <a:spcPts val="0"/>
              </a:spcBef>
              <a:spcAft>
                <a:spcPts val="0"/>
              </a:spcAft>
              <a:buNone/>
            </a:pPr>
            <a:r>
              <a:rPr b="1" i="0" lang="en-US" sz="2800" u="none" cap="none" strike="noStrike">
                <a:solidFill>
                  <a:srgbClr val="000000"/>
                </a:solidFill>
                <a:latin typeface="Times"/>
                <a:ea typeface="Times"/>
                <a:cs typeface="Times"/>
                <a:sym typeface="Times"/>
              </a:rPr>
              <a:t>2.2 Product Functions</a:t>
            </a:r>
            <a:endParaRPr b="0" i="0" sz="1800" u="none" cap="none" strike="noStrike">
              <a:solidFill>
                <a:schemeClr val="dk1"/>
              </a:solidFill>
              <a:latin typeface="Calibri"/>
              <a:ea typeface="Calibri"/>
              <a:cs typeface="Calibri"/>
              <a:sym typeface="Calibri"/>
            </a:endParaRPr>
          </a:p>
          <a:p>
            <a:pPr indent="0" lvl="0" marL="914400" marR="0" rtl="0" algn="l">
              <a:lnSpc>
                <a:spcPct val="100000"/>
              </a:lnSpc>
              <a:spcBef>
                <a:spcPts val="0"/>
              </a:spcBef>
              <a:spcAft>
                <a:spcPts val="0"/>
              </a:spcAft>
              <a:buNone/>
            </a:pPr>
            <a:r>
              <a:rPr b="1" i="0" lang="en-US" sz="2800" u="none" cap="none" strike="noStrike">
                <a:solidFill>
                  <a:srgbClr val="000000"/>
                </a:solidFill>
                <a:latin typeface="Times"/>
                <a:ea typeface="Times"/>
                <a:cs typeface="Times"/>
                <a:sym typeface="Times"/>
              </a:rPr>
              <a:t>2.3 User Characteristics</a:t>
            </a:r>
            <a:endParaRPr b="0" i="0" sz="1800" u="none" cap="none" strike="noStrike">
              <a:solidFill>
                <a:schemeClr val="dk1"/>
              </a:solidFill>
              <a:latin typeface="Calibri"/>
              <a:ea typeface="Calibri"/>
              <a:cs typeface="Calibri"/>
              <a:sym typeface="Calibri"/>
            </a:endParaRPr>
          </a:p>
          <a:p>
            <a:pPr indent="0" lvl="0" marL="914400" marR="0" rtl="0" algn="l">
              <a:lnSpc>
                <a:spcPct val="100000"/>
              </a:lnSpc>
              <a:spcBef>
                <a:spcPts val="0"/>
              </a:spcBef>
              <a:spcAft>
                <a:spcPts val="0"/>
              </a:spcAft>
              <a:buNone/>
            </a:pPr>
            <a:r>
              <a:rPr b="1" i="0" lang="en-US" sz="2800" u="none" cap="none" strike="noStrike">
                <a:solidFill>
                  <a:srgbClr val="000000"/>
                </a:solidFill>
                <a:latin typeface="Times"/>
                <a:ea typeface="Times"/>
                <a:cs typeface="Times"/>
                <a:sym typeface="Times"/>
              </a:rPr>
              <a:t>2.4 Appropriation of requirements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6"/>
          <p:cNvSpPr/>
          <p:nvPr/>
        </p:nvSpPr>
        <p:spPr>
          <a:xfrm>
            <a:off x="457200" y="273600"/>
            <a:ext cx="8228520" cy="114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Software Requirements Specification</a:t>
            </a:r>
            <a:endParaRPr sz="1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2800">
                <a:solidFill>
                  <a:schemeClr val="dk1"/>
                </a:solidFill>
                <a:latin typeface="Arial"/>
                <a:ea typeface="Arial"/>
                <a:cs typeface="Arial"/>
                <a:sym typeface="Arial"/>
              </a:rPr>
              <a:t>For &lt;Project&gt; with IEEE Standard</a:t>
            </a:r>
            <a:endParaRPr sz="1800">
              <a:solidFill>
                <a:schemeClr val="dk1"/>
              </a:solidFill>
              <a:latin typeface="Calibri"/>
              <a:ea typeface="Calibri"/>
              <a:cs typeface="Calibri"/>
              <a:sym typeface="Calibri"/>
            </a:endParaRPr>
          </a:p>
        </p:txBody>
      </p:sp>
      <p:sp>
        <p:nvSpPr>
          <p:cNvPr id="583" name="Google Shape;583;p76"/>
          <p:cNvSpPr/>
          <p:nvPr/>
        </p:nvSpPr>
        <p:spPr>
          <a:xfrm>
            <a:off x="365760" y="1554480"/>
            <a:ext cx="8228880" cy="3976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600">
                <a:solidFill>
                  <a:srgbClr val="000000"/>
                </a:solidFill>
                <a:latin typeface="Times New Roman"/>
                <a:ea typeface="Times New Roman"/>
                <a:cs typeface="Times New Roman"/>
                <a:sym typeface="Times New Roman"/>
              </a:rPr>
              <a:t>3. Specific Requirements  </a:t>
            </a:r>
            <a:endParaRPr sz="18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rPr b="1" i="0" lang="en-US" sz="3600" u="none" cap="none" strike="noStrike">
                <a:solidFill>
                  <a:srgbClr val="000000"/>
                </a:solidFill>
                <a:latin typeface="Times New Roman"/>
                <a:ea typeface="Times New Roman"/>
                <a:cs typeface="Times New Roman"/>
                <a:sym typeface="Times New Roman"/>
              </a:rPr>
              <a:t>3.1. External Interfaces</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rPr b="1" i="0" lang="en-US" sz="3600" u="none" cap="none" strike="noStrike">
                <a:solidFill>
                  <a:srgbClr val="000000"/>
                </a:solidFill>
                <a:latin typeface="Times New Roman"/>
                <a:ea typeface="Times New Roman"/>
                <a:cs typeface="Times New Roman"/>
                <a:sym typeface="Times New Roman"/>
              </a:rPr>
              <a:t>3.2. Functional Requirements</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rPr b="1" i="0" lang="en-US" sz="3600" u="none" cap="none" strike="noStrike">
                <a:solidFill>
                  <a:srgbClr val="000000"/>
                </a:solidFill>
                <a:latin typeface="Times New Roman"/>
                <a:ea typeface="Times New Roman"/>
                <a:cs typeface="Times New Roman"/>
                <a:sym typeface="Times New Roman"/>
              </a:rPr>
              <a:t>3.2 Non-Functional Requirements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3600">
                <a:solidFill>
                  <a:srgbClr val="000000"/>
                </a:solidFill>
                <a:latin typeface="Times New Roman"/>
                <a:ea typeface="Times New Roman"/>
                <a:cs typeface="Times New Roman"/>
                <a:sym typeface="Times New Roman"/>
              </a:rPr>
              <a:t>4. Change Management Process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3600">
                <a:solidFill>
                  <a:srgbClr val="000000"/>
                </a:solidFill>
                <a:latin typeface="Times New Roman"/>
                <a:ea typeface="Times New Roman"/>
                <a:cs typeface="Times New Roman"/>
                <a:sym typeface="Times New Roman"/>
              </a:rPr>
              <a:t>5. Document Approval</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77"/>
          <p:cNvSpPr/>
          <p:nvPr/>
        </p:nvSpPr>
        <p:spPr>
          <a:xfrm>
            <a:off x="457200" y="219600"/>
            <a:ext cx="8228520" cy="125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4400">
                <a:solidFill>
                  <a:schemeClr val="dk1"/>
                </a:solidFill>
                <a:latin typeface="Arial"/>
                <a:ea typeface="Arial"/>
                <a:cs typeface="Arial"/>
                <a:sym typeface="Arial"/>
              </a:rPr>
              <a:t>Properties of a good SRS document</a:t>
            </a:r>
            <a:endParaRPr sz="1800">
              <a:solidFill>
                <a:schemeClr val="dk1"/>
              </a:solidFill>
              <a:latin typeface="Calibri"/>
              <a:ea typeface="Calibri"/>
              <a:cs typeface="Calibri"/>
              <a:sym typeface="Calibri"/>
            </a:endParaRPr>
          </a:p>
        </p:txBody>
      </p:sp>
      <p:sp>
        <p:nvSpPr>
          <p:cNvPr id="589" name="Google Shape;589;p77"/>
          <p:cNvSpPr/>
          <p:nvPr/>
        </p:nvSpPr>
        <p:spPr>
          <a:xfrm>
            <a:off x="228600" y="1604520"/>
            <a:ext cx="8457480" cy="3976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3200">
                <a:solidFill>
                  <a:schemeClr val="dk1"/>
                </a:solidFill>
                <a:latin typeface="Arial"/>
                <a:ea typeface="Arial"/>
                <a:cs typeface="Arial"/>
                <a:sym typeface="Arial"/>
              </a:rPr>
              <a:t>Concise.</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3200">
                <a:solidFill>
                  <a:schemeClr val="dk1"/>
                </a:solidFill>
                <a:latin typeface="Arial"/>
                <a:ea typeface="Arial"/>
                <a:cs typeface="Arial"/>
                <a:sym typeface="Arial"/>
              </a:rPr>
              <a:t>Structured.</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3200">
                <a:solidFill>
                  <a:schemeClr val="dk1"/>
                </a:solidFill>
                <a:latin typeface="Arial"/>
                <a:ea typeface="Arial"/>
                <a:cs typeface="Arial"/>
                <a:sym typeface="Arial"/>
              </a:rPr>
              <a:t>Black-box view.</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3200">
                <a:solidFill>
                  <a:schemeClr val="dk1"/>
                </a:solidFill>
                <a:latin typeface="Arial"/>
                <a:ea typeface="Arial"/>
                <a:cs typeface="Arial"/>
                <a:sym typeface="Arial"/>
              </a:rPr>
              <a:t>Conceptual integrity.</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3200">
                <a:solidFill>
                  <a:schemeClr val="dk1"/>
                </a:solidFill>
                <a:latin typeface="Arial"/>
                <a:ea typeface="Arial"/>
                <a:cs typeface="Arial"/>
                <a:sym typeface="Arial"/>
              </a:rPr>
              <a:t>Response to undesired events.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3200">
                <a:solidFill>
                  <a:schemeClr val="dk1"/>
                </a:solidFill>
                <a:latin typeface="Arial"/>
                <a:ea typeface="Arial"/>
                <a:cs typeface="Arial"/>
                <a:sym typeface="Arial"/>
              </a:rPr>
              <a:t>Verifiable.</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coreProperties>
</file>